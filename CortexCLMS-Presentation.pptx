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Monthly Job Distribution by Status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Jobs</c:v>
                </c:pt>
              </c:strCache>
            </c:strRef>
          </c:tx>
          <c:spPr>
            <a:solidFill>
              <a:srgbClr val="0F3460"/>
            </a:solidFill>
          </c:spPr>
          <c:cat>
            <c:strRef>
              <c:f>Sheet1!$A$2:$A$9</c:f>
              <c:strCache>
                <c:ptCount val="8"/>
                <c:pt idx="0">
                  <c:v>RECEIVED</c:v>
                </c:pt>
                <c:pt idx="1">
                  <c:v>ASSIGNED</c:v>
                </c:pt>
                <c:pt idx="2">
                  <c:v>IN CAL.</c:v>
                </c:pt>
                <c:pt idx="3">
                  <c:v>REVIEW</c:v>
                </c:pt>
                <c:pt idx="4">
                  <c:v>APPROVED</c:v>
                </c:pt>
                <c:pt idx="5">
                  <c:v>CERT.</c:v>
                </c:pt>
                <c:pt idx="6">
                  <c:v>DELIVERED</c:v>
                </c:pt>
                <c:pt idx="7">
                  <c:v>CLOSED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42</c:v>
                </c:pt>
                <c:pt idx="1">
                  <c:v>38</c:v>
                </c:pt>
                <c:pt idx="2">
                  <c:v>65</c:v>
                </c:pt>
                <c:pt idx="3">
                  <c:v>28</c:v>
                </c:pt>
                <c:pt idx="4">
                  <c:v>55</c:v>
                </c:pt>
                <c:pt idx="5">
                  <c:v>80</c:v>
                </c:pt>
                <c:pt idx="6">
                  <c:v>70</c:v>
                </c:pt>
                <c:pt idx="7">
                  <c:v>210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Monthly Revenue Growth (₹ Lakhs)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CLMS (₹L)</c:v>
                </c:pt>
              </c:strCache>
            </c:strRef>
          </c:tx>
          <c:spPr>
            <a:ln>
              <a:solidFill>
                <a:srgbClr val="CF132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</c:v>
                </c:pt>
                <c:pt idx="1">
                  <c:v>8.2</c:v>
                </c:pt>
                <c:pt idx="2">
                  <c:v>7.8</c:v>
                </c:pt>
                <c:pt idx="3">
                  <c:v>8.5</c:v>
                </c:pt>
                <c:pt idx="4">
                  <c:v>8.1</c:v>
                </c:pt>
                <c:pt idx="5">
                  <c:v>8.3</c:v>
                </c:pt>
                <c:pt idx="6">
                  <c:v>8.0</c:v>
                </c:pt>
                <c:pt idx="7">
                  <c:v>8.4</c:v>
                </c:pt>
                <c:pt idx="8">
                  <c:v>8.2</c:v>
                </c:pt>
                <c:pt idx="9">
                  <c:v>8.6</c:v>
                </c:pt>
                <c:pt idx="10">
                  <c:v>8.1</c:v>
                </c:pt>
                <c:pt idx="11">
                  <c:v>8.5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CLMS (₹L)</c:v>
                </c:pt>
              </c:strCache>
            </c:strRef>
          </c:tx>
          <c:spPr>
            <a:ln>
              <a:solidFill>
                <a:srgbClr val="52C41A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8.5</c:v>
                </c:pt>
                <c:pt idx="1">
                  <c:v>9.2</c:v>
                </c:pt>
                <c:pt idx="2">
                  <c:v>10.1</c:v>
                </c:pt>
                <c:pt idx="3">
                  <c:v>10.8</c:v>
                </c:pt>
                <c:pt idx="4">
                  <c:v>11.5</c:v>
                </c:pt>
                <c:pt idx="5">
                  <c:v>12.2</c:v>
                </c:pt>
                <c:pt idx="6">
                  <c:v>12.8</c:v>
                </c:pt>
                <c:pt idx="7">
                  <c:v>13.5</c:v>
                </c:pt>
                <c:pt idx="8">
                  <c:v>14.2</c:v>
                </c:pt>
                <c:pt idx="9">
                  <c:v>14.8</c:v>
                </c:pt>
                <c:pt idx="10">
                  <c:v>15.5</c:v>
                </c:pt>
                <c:pt idx="11">
                  <c:v>16.2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Customer Satisfaction (Post-CLMS)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52C41A"/>
              </a:solidFill>
            </c:spPr>
          </c:dPt>
          <c:dPt>
            <c:idx val="1"/>
            <c:spPr>
              <a:solidFill>
                <a:srgbClr val="1677FF"/>
              </a:solidFill>
            </c:spPr>
          </c:dPt>
          <c:dPt>
            <c:idx val="2"/>
            <c:spPr>
              <a:solidFill>
                <a:srgbClr val="F5A623"/>
              </a:solidFill>
            </c:spPr>
          </c:dPt>
          <c:dPt>
            <c:idx val="3"/>
            <c:spPr>
              <a:solidFill>
                <a:srgbClr val="E94560"/>
              </a:solidFill>
            </c:spPr>
          </c:dPt>
          <c:cat>
            <c:strRef>
              <c:f>Sheet1!$A$2:$A$5</c:f>
              <c:strCache>
                <c:ptCount val="4"/>
                <c:pt idx="0">
                  <c:v>Very Satisfied</c:v>
                </c:pt>
                <c:pt idx="1">
                  <c:v>Satisfied</c:v>
                </c:pt>
                <c:pt idx="2">
                  <c:v>Neutral</c:v>
                </c:pt>
                <c:pt idx="3">
                  <c:v>Dissatisfied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</c:v>
                </c:pt>
                <c:pt idx="1">
                  <c:v>28</c:v>
                </c:pt>
                <c:pt idx="2">
                  <c:v>10</c:v>
                </c:pt>
                <c:pt idx="3">
                  <c:v>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NCR Reduction Over Time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NCR Count</c:v>
                </c:pt>
              </c:strCache>
            </c:strRef>
          </c:tx>
          <c:spPr>
            <a:solidFill>
              <a:srgbClr val="E94560"/>
            </a:solidFill>
          </c:spPr>
          <c:cat>
            <c:strRef>
              <c:f>Sheet1!$A$2:$A$7</c:f>
              <c:strCache>
                <c:ptCount val="6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Q1+1</c:v>
                </c:pt>
                <c:pt idx="5">
                  <c:v>Q2+1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</c:v>
                </c:pt>
                <c:pt idx="1">
                  <c:v>18</c:v>
                </c:pt>
                <c:pt idx="2">
                  <c:v>14</c:v>
                </c:pt>
                <c:pt idx="3">
                  <c:v>9</c:v>
                </c:pt>
                <c:pt idx="4">
                  <c:v>6</c:v>
                </c:pt>
                <c:pt idx="5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4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A1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0" y="91439"/>
            <a:ext cx="2011680" cy="2011680"/>
          </a:xfrm>
          <a:prstGeom prst="ellipse">
            <a:avLst/>
          </a:prstGeom>
          <a:solidFill>
            <a:srgbClr val="1A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0" y="3200400"/>
            <a:ext cx="2743200" cy="2743200"/>
          </a:xfrm>
          <a:prstGeom prst="ellipse">
            <a:avLst/>
          </a:prstGeom>
          <a:solidFill>
            <a:srgbClr val="1A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0" y="5029200"/>
            <a:ext cx="914400" cy="914400"/>
          </a:xfrm>
          <a:prstGeom prst="ellipse">
            <a:avLst/>
          </a:prstGeom>
          <a:solidFill>
            <a:srgbClr val="1A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914400"/>
            <a:ext cx="109728" cy="8229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914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CORTEX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417320"/>
            <a:ext cx="2651760" cy="3200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43560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AI  TECHNOLOGIES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92024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Cortex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192024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0BFFF"/>
                </a:solidFill>
              </a:rPr>
              <a:t>CLMS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944368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0C4DE"/>
                </a:solidFill>
              </a:rPr>
              <a:t>Calibration Laboratory
Management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91640" y="4114800"/>
            <a:ext cx="5029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2976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0"/>
                </a:solidFill>
              </a:rPr>
              <a:t>Automate, Comply, and Grow — End-to-End Lab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846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88AA"/>
                </a:solidFill>
              </a:rPr>
              <a:t>Product Presentation  · 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AACC"/>
                </a:solidFill>
              </a:rPr>
              <a:t>📞 +91 8329925318   |   ✉ cortexaitechnologies@zohomail.in   |   📍 Pune, Maharashtra, India 411034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743200"/>
            <a:ext cx="2834640" cy="5486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9408" y="2761488"/>
            <a:ext cx="2798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ISO 17025  |  NABL Ready  |  GST Compliant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What we'll cover in this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26187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About Cortex Technologies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Our mission, vision &amp; technology backbone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18872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26187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26187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The Lab Management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169164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Pain points calibration labs face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42316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42316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249631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49631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Introducing CortexCLMS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9260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Product overview &amp; key modules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42316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242316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49631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49631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Uncertainty Calculations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92608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Built-in GUM-compliant uncertainty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65760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65760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79" y="373075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7307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Key Benefits &amp; ROI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6052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How CLMS transforms your operations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65760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365760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373075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73075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Performance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416052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Charts &amp; data from real lab deployments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89204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489204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79" y="496519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96519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Pricing Plans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3949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Flexible plans for every lab size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489204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489204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496519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496519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Next Steps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2280" y="539496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How to get started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09728" cy="58064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About Cortex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Powering the next generation of calibration laboratory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303520" cy="19202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🎯  Our Mission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 digitize and automate calibration laboratory operations across India and beyond — delivering purpose-built software that saves time, ensures NABL compliance, and grows lab revenue.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1234440"/>
            <a:ext cx="6035040" cy="19202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325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🚀  Our 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37360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 become the #1 CLMS platform for accredited calibration labs in South Asia by 2028 — with a suite of cloud-native products that set the industry benchmark for quality and compliance.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Calibration-First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Built specifically for calibration labs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58568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58568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0008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☁️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0008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Cloud 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50008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99.9% uptime SLA, auto-scaling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42816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42816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5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4255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Enterprise 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ISO 27001, SOC2 aligned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7064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7064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3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3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Mobile 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3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Works on any device, anywhere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11312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Multi-Tenant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Unlimited labs on one platform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95560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95560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87000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Integrations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ERP, NABL portal, Email &amp;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166360"/>
            <a:ext cx="11612880" cy="1417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150+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Labs Onboarded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50,000+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47872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Certificates Issued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55664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98%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664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Customer Retention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63456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NABL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63456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Accreditation Ready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Problem: What Labs Struggle With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Pain points that cost labs time, money, and accreditation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2984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Paper-Based Chaos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6420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Job cards, datasheets, and certificates managed on paper or Excel — prone to errors, loss, and version conflicts.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8872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1" y="12984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⏱️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Slow Turnaround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66420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Manual status tracking means no one knows where a job is. Customers chase the lab for updates via phone calls.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51460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51460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6243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NABL Audit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99008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Missing environmental logs, expired reference standards, unsigned documents — discovered only during audits.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51460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51460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6243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Revenue Leakage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99008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Jobs completed but not invoiced. Quotations never followed up. No visibility into outstanding dues.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84048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84048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39502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Zero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31596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No data on engineer productivity, repeat complaints, or revenue trends. Decisions are based on guesswork.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384048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384048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28231" y="39502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No Customer Portal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31596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Customers cannot self-check job status or download certificates — leading to support overload for lab staff.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166359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5166359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52760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25779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Repeat Manual 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4184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Certificate data re-entered 3 times: datasheet → certificate → register → invoice. Every step is error-prone.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5166359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5166359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1" y="52760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525779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No Role Control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564184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Everyone sees everything. Junior staff can accidentally modify approved certificates or closed records.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CortexCLMS — Complete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27 integrated modules covering every lab function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🗂️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Jobs</a:t>
            </a:r>
          </a:p>
        </p:txBody>
      </p:sp>
      <p:sp>
        <p:nvSpPr>
          <p:cNvPr id="8" name="Rectangle 7"/>
          <p:cNvSpPr/>
          <p:nvPr/>
        </p:nvSpPr>
        <p:spPr>
          <a:xfrm>
            <a:off x="1956816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02536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2536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Certificates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39312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Instruments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21808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67528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67528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Ref. Standards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4304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50024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0024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Cal. Masters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🌡️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Environmental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69296" y="1188720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15016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5016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Customers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Leads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56816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02536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02536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CRM Activities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39312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85032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85032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Quotations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21808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67528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67528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Invoices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04304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0024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50024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Purchase Orders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0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32520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Delivery Challans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69296" y="2304288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15016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15016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NCR/CAPA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419856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0040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Complaints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56816" y="3419856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02536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02536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Lab Docs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39312" y="3419856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85032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85032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Internal Audit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21808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67528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67528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Tasks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04304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50024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0024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Engineers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0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32520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20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69296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15016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15016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Inventory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535424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0040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Reports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56816" y="4535424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02536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02536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Notifications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39312" y="4535424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85032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85032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Settings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321808" y="4535424"/>
            <a:ext cx="1609344" cy="1005840"/>
          </a:xfrm>
          <a:prstGeom prst="rect">
            <a:avLst/>
          </a:prstGeom>
          <a:solidFill>
            <a:srgbClr val="7A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67528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67528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Customer Portal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432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F3460"/>
                </a:solidFill>
              </a:rPr>
              <a:t>■ Calibration Ops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5176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5C2A"/>
                </a:solidFill>
              </a:rPr>
              <a:t>■ CRM &amp; Billing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210E"/>
                </a:solidFill>
              </a:rPr>
              <a:t>■ Quality &amp; Compliance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0664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1F6B"/>
                </a:solidFill>
              </a:rPr>
              <a:t>■ Administration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8408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4A00"/>
                </a:solidFill>
              </a:rPr>
              <a:t>■ Customer Portal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09728" cy="58064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Built-In Uncertainty Calculations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GUM-compliant measurement uncertainty engine built directly into datasheets and certificates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94960" cy="1874519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6187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3460"/>
                </a:solidFill>
              </a:rPr>
              <a:t>📐  What is Measurement Uncertainty?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64208"/>
            <a:ext cx="5120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Measurement Uncertainty (MU) is a quantified doubt about the result of a measurement. As per ISO/IEC 17025:2017, every calibration certificate MUST state the uncertainty of measurement to demonstrate metrological traceability.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06440" y="1188720"/>
            <a:ext cx="6080760" cy="1874519"/>
          </a:xfrm>
          <a:prstGeom prst="rect">
            <a:avLst/>
          </a:prstGeom>
          <a:solidFill>
            <a:srgbClr val="E6F4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261872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3460"/>
                </a:solidFill>
              </a:rPr>
              <a:t>📋  GUM Standard (JCGM 100:2008)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664208"/>
            <a:ext cx="57607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CortexCLMS follows the Guide to the Expression of Uncertainty in Measurement (GUM). All uncertainty components are classified as Type A (statistical) or Type B (non-statistical) and combined using the law of propagation of uncertainties.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2004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3460"/>
                </a:solidFill>
              </a:rPr>
              <a:t>Uncertainty Budget Components — Automatically Computed by CortexCLMS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584448"/>
            <a:ext cx="1161288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3703320"/>
            <a:ext cx="278892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703320"/>
            <a:ext cx="2788920" cy="54864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79" y="3794760"/>
            <a:ext cx="68580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3822191"/>
            <a:ext cx="649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uRef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0390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F3460"/>
                </a:solidFill>
              </a:rPr>
              <a:t>Reference Standard
Uncertainty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315968"/>
            <a:ext cx="25420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Type B — Certificate uncertainty of the reference standard used, divided by coverage factor 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4408" y="3703320"/>
            <a:ext cx="278892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64408" y="3703320"/>
            <a:ext cx="2788920" cy="54864"/>
          </a:xfrm>
          <a:prstGeom prst="rect">
            <a:avLst/>
          </a:prstGeom>
          <a:solidFill>
            <a:srgbClr val="0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01568" y="3794760"/>
            <a:ext cx="685800" cy="411480"/>
          </a:xfrm>
          <a:prstGeom prst="rect">
            <a:avLst/>
          </a:prstGeom>
          <a:solidFill>
            <a:srgbClr val="0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19856" y="3822191"/>
            <a:ext cx="649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808" y="380390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A5C2A"/>
                </a:solidFill>
              </a:rPr>
              <a:t>Resolution
Uncertainty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315968"/>
            <a:ext cx="25420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Type B — Half the least significant digit (LSD) of the instrument under test, divided by √3.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54496" y="3703320"/>
            <a:ext cx="278892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4496" y="3703320"/>
            <a:ext cx="2788920" cy="54864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91656" y="3794760"/>
            <a:ext cx="685800" cy="41148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9944" y="3822191"/>
            <a:ext cx="649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uRep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380390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6B210E"/>
                </a:solidFill>
              </a:rPr>
              <a:t>Repeatability
Uncertainty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656" y="4315968"/>
            <a:ext cx="25420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Type A — Standard deviation of repeated readings divided by √n (minimum 3 readings).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44584" y="3703320"/>
            <a:ext cx="278892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44584" y="3703320"/>
            <a:ext cx="2788920" cy="54864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81744" y="3794760"/>
            <a:ext cx="685800" cy="41148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00032" y="3822191"/>
            <a:ext cx="649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uDrift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58984" y="380390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A1F6B"/>
                </a:solidFill>
              </a:rPr>
              <a:t>Drift / Stability
Uncertainty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81744" y="4315968"/>
            <a:ext cx="25420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Type B — Estimated from historical calibration data of the reference instrument.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760720"/>
            <a:ext cx="11612880" cy="8686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833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</a:rPr>
              <a:t>Combined Standard Uncertainty: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5833872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uc = √(uRef² + uRes² + uRep² + uDrift²)     →     Expanded Uncertainty: U = uc × k   (k=2 for 95% confidence level, normal distribution)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Benefits of CortexCLMS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Measurable impact from day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749039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141732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44475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44475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60% Faster Certificate Issuance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Automated datasheet-to-certificate pipeline eliminates manual re-entry. What took 2 days now takes 2 hours.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8872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188720"/>
            <a:ext cx="3749039" cy="73152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34840" y="1417320"/>
            <a:ext cx="640080" cy="640080"/>
          </a:xfrm>
          <a:prstGeom prst="ellipse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7" y="144475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144475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100% NABL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1945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Built-in workflows enforce ISO/IEC 17025 requirements. Environmental logs, reference standard tracking, and document control are automatic.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18872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749039" cy="73152"/>
          </a:xfrm>
          <a:prstGeom prst="rect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2480" y="1417320"/>
            <a:ext cx="640080" cy="640080"/>
          </a:xfrm>
          <a:prstGeom prst="ellipse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44475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44475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Zero Revenue Leakage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1945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Every completed job auto-generates a billing prompt. Pending invoices dashboard prevents forgotten billings. Average recovery: ₹2L/month.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79476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794760"/>
            <a:ext cx="3749039" cy="73152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7200" y="4023360"/>
            <a:ext cx="640080" cy="640080"/>
          </a:xfrm>
          <a:prstGeom prst="ellips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05079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0507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Customer Self-Service Portal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006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Customers check job status and download certificates 24/7. Lab support calls reduced by 70%. Customer satisfaction scores up 40%.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79476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59" y="3794760"/>
            <a:ext cx="3749039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434840" y="4023360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3127" y="405079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79" y="40507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Real-Time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48006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Engineer productivity, revenue trends, NCR patterns, uncertainty budgets — all in one dashboard. Data-driven decisions replace guesswork.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79476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794760"/>
            <a:ext cx="3749039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412480" y="4023360"/>
            <a:ext cx="640080" cy="64008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0768" y="405079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40507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Role-Based Security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8006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Fine-grained access control ensures junior staff cannot modify approved records. Full audit trail on every change.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Before vs After CortexCLMS — The ROI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Average figures from 50+ deployed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18288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179576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2560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179576"/>
            <a:ext cx="24505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Without CLMS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143000"/>
            <a:ext cx="2560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1179576"/>
            <a:ext cx="24505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With CortexCLMS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1143000"/>
            <a:ext cx="21031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65792" y="1179576"/>
            <a:ext cx="19933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2704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6184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Certificate Issuance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152704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16184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3–5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1527048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161848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4–8 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92640" y="1527048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161848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85% faster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12140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Manual Data Entry (hrs/day)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212140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6–8 hours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12140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2128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&lt; 1 hour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212140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22128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87% reduction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71576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8072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Support Calls / Week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271576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0" y="28072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40–60 calls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2715768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280720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8–12 calls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92640" y="2715768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84080" y="280720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75% fewer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31012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4015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Revenue per Month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66160" y="331012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0" y="34015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Baseline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331012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340156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+28%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92640" y="331012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84080" y="340156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Revenue growth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904487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99592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NABL Audit Prep Time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66160" y="3904487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399592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2 weeks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0" y="3904487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0" y="3995927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2 days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904487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995927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80% faster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449884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45902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Certificate Error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66160" y="449884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0" y="45902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12–15%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0" y="449884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49440" y="459028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&lt; 0.5%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92640" y="449884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59028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96% fewer errors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09320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51846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Customer Satisfaction Score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66160" y="509320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0" y="51846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3.1 /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0" y="5093208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49440" y="51846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4.7 / 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92640" y="5093208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80" y="51846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+52% NPS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568756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577900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Pending Invoice Recovery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66160" y="568756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0" y="577900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₹0/month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0" y="568756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0" y="5779007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₹2L+/month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92640" y="568756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84080" y="5779007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New revenue stream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Performance Analytics — Real Lab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Charts from aggregated deployments (anonymised)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188720"/>
          <a:ext cx="5486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943600" y="1188720"/>
          <a:ext cx="594360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274320" y="3977639"/>
          <a:ext cx="3657600" cy="26517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114800" y="3977639"/>
          <a:ext cx="3931920" cy="26517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9" name="Rectangle 8"/>
          <p:cNvSpPr/>
          <p:nvPr/>
        </p:nvSpPr>
        <p:spPr>
          <a:xfrm>
            <a:off x="8321040" y="4069080"/>
            <a:ext cx="36576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41148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4.9★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42336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Avg User Rating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4892040"/>
            <a:ext cx="36576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49377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98%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0566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Retention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5715000"/>
            <a:ext cx="36576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576072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58795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Call Reduction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CortexCLMS Pricing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Transparent, all-inclusive pricing — no hidden charges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43000"/>
            <a:ext cx="2788920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9659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Up to 25 Users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₹99,999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834640"/>
            <a:ext cx="2788920" cy="6400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₹15,000/month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All Core Modules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5 Engineer Accounts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Email 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1 Lab 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Basic Reports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Customer Portal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3552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18688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18688" y="1143000"/>
            <a:ext cx="2788920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18688" y="1143000"/>
            <a:ext cx="2788920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1161288"/>
            <a:ext cx="2788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3460"/>
                </a:solidFill>
              </a:rPr>
              <a:t>⭐ MOST POPULAR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14630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18688" y="18470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Professional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18688" y="21945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Up to 50 Users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8688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10128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₹1,49,999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18688" y="2834640"/>
            <a:ext cx="2788920" cy="6400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18688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₹22,000/month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18688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Everything in Starter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55848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Unlimited Certificates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5848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Priority Support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55848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Multi-location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55848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Advanced Analytics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55848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API Access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5916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 Certificate Template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08776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08776" y="1143000"/>
            <a:ext cx="2788920" cy="11887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08776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08776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Enterprise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8776" y="19659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Up to 100 Users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08776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0216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0216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₹2,99,999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08776" y="2834640"/>
            <a:ext cx="2788920" cy="64008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08776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₹35,000/month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08776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Everything in Professional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Dedicated Account Manager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SLA Guarantee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45936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 Integrations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On-premise Option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45936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Training Workshops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45936" y="5916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NABL Audit Support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53728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98864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98864" y="1143000"/>
            <a:ext cx="2788920" cy="118872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98864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98864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Enterprise+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98864" y="19659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Unlimited Users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98864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90304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90304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Custom Quote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98864" y="2834640"/>
            <a:ext cx="2788920" cy="64008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98864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Custom Quote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98864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36024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Everything in Enterprise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36024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White-label Option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36024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Source Code License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36024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 Uncertainty Models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36024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Multi-lab Group Mgmt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36024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24×7 Dedicated Support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36024" y="5916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Quarterly Business Review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8600" y="6492240"/>
            <a:ext cx="1170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8888"/>
                </a:solidFill>
              </a:rPr>
              <a:t>* All plans include: Free Setup, Data Migration Assistance, User Training, and 1-year bug-fix warranty.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Plan Comparison — Feature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See exactly what's included in each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3840480" cy="4572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61288"/>
            <a:ext cx="3703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1920240" cy="4572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59" y="1161288"/>
            <a:ext cx="1783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Starter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2194560" cy="4572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161288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Professional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58200" y="1143000"/>
            <a:ext cx="2011680" cy="457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1161288"/>
            <a:ext cx="1874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Enterprise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61320" y="1143000"/>
            <a:ext cx="2011680" cy="45720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60" y="1161288"/>
            <a:ext cx="1874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Enterprise+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160020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6276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No. of Users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60020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16276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60020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6276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16002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6276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61320" y="16002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52760" y="16276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Unlimited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1874519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190195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Calibration Jobs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874519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59" y="190195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874519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190195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58200" y="187451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19019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61320" y="187451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52760" y="19019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214884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217627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Certificate Generation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214884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59" y="217627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14884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217627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8200" y="21488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49640" y="21762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61320" y="21488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52760" y="21762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242316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245059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Customer Portal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242316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51959" y="245059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242316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63640" y="245059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58200" y="24231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9640" y="245059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61320" y="24231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652760" y="245059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269748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272491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NABL Compliant Workflows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0" y="269748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51959" y="272491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69748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63640" y="272491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58200" y="26974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49640" y="27249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561320" y="26974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8600" y="297180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29992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CRM &amp; Leads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60520" y="297180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51959" y="29992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297180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29992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58200" y="29718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49640" y="29992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561320" y="29718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652760" y="29992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28600" y="324612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0040" y="327355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Invoicing &amp; GST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60520" y="324612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51959" y="327355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324612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327355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58200" y="32461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49640" y="32735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61320" y="32461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52760" y="32735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8600" y="352044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0040" y="354787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NCR/CAPA &amp; Audits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60520" y="352044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51959" y="354787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2200" y="352044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63640" y="354787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458200" y="352044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549640" y="35478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1320" y="352044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652760" y="35478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28600" y="379476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382219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Advanced Analytics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160520" y="379476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51959" y="382219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72200" y="379476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63640" y="382219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458200" y="379476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549640" y="38221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1320" y="379476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652760" y="38221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28600" y="4069079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20040" y="409651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API Access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60520" y="4069079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51959" y="409651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172200" y="4069079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263640" y="409651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458200" y="406907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549640" y="409651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561320" y="406907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652760" y="409651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28600" y="434340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20040" y="43708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Custom Certificate Template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60520" y="434340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251959" y="43708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172200" y="434340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263640" y="43708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58200" y="43434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49640" y="43708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561320" y="43434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652760" y="43708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8600" y="461772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20040" y="464515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Multi-location Support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160520" y="461772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51959" y="464515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172200" y="461772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263640" y="464515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458200" y="461772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549640" y="46451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561320" y="461772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652760" y="46451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28600" y="489204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0040" y="491947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Dedicated Account Manager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160520" y="489204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251959" y="491947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172200" y="489204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263640" y="491947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458200" y="48920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49640" y="49194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561320" y="48920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0652760" y="49194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28600" y="516636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20040" y="519379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SLA Guarantee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160520" y="516636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251959" y="519379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172200" y="516636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63640" y="519379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458200" y="51663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549640" y="51937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561320" y="51663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652760" y="51937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28600" y="544068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0040" y="546811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On-premise Option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160520" y="544068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251959" y="546811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172200" y="544068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63640" y="546811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458200" y="54406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49640" y="54681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0561320" y="54406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652760" y="54681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28600" y="571500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0040" y="57424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White-label / Source Code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160520" y="571500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251959" y="57424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172200" y="571500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263640" y="57424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458200" y="57150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549640" y="57424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0561320" y="57150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0652760" y="57424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28600" y="598932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20040" y="601675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Custom Uncertainty Models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60520" y="598932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251959" y="601675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172200" y="598932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263640" y="601675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458200" y="59893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549640" y="60167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561320" y="59893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652760" y="60167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Customer Portal — Self-Service Excellence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Give customers 24/7 access to their calibration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My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Track all calibration jobs in real-time. See status from RECEIVED to DELIVERED — no phone calls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176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Certificates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Download calibration certificates as PDF at any time. QR-code verified for authenticity.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My Instruments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View all registered instruments with calibration due dates and history.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Raise Complaint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Submit complaints directly from the portal. Auto-appears in the lab's Quality module.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Give Feedback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Rate lab performance on 4 dimensions. Quality managers see it instantly.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4206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Setting Up Portal Access — 4 Simple Steps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1️⃣ Add customer in the Customers module with their email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37560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2️⃣ Click 🔒 Set Portal Password on the customer record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59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3️⃣ Share email, password &amp; lab accreditation code with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897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81160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4️⃣ Customer logs in at /portal — instant access!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4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Ready to Transform Your Lab?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4DE"/>
                </a:solidFill>
              </a:rPr>
              <a:t>Join 150+ calibration labs already running on CortexCLMS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Book a Free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Schedule a 45-minute personalized demo. See your lab's workflow in the 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8912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Pilot 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We set up your lab data, configure workflows, and run a pilot with your team — hands-on and guided.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348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Onboarding &amp; Go-Live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Our team handles data migration, training, and go-live support in 2 weeks.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4128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5956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Grow &amp;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Add more users, modules, and locations as your lab grows — plans scale with you.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029200"/>
            <a:ext cx="11612880" cy="15544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5230368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</a:rPr>
              <a:t>📞 +91 8329925318     |     ✉ cortexaitechnologies@zohomail.in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568756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📍 Pune, Maharashtra, India 411034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108192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CCCC"/>
                </a:solidFill>
              </a:rPr>
              <a:t>Cortex AI Technologies  ·  Making Calibration Labs Smarter, Faster, Compliant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