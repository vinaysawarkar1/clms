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F3460"/>
                </a:solidFill>
              </a:rPr>
              <a:t>Monthly Job Distribution by Status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Jobs</c:v>
                </c:pt>
              </c:strCache>
            </c:strRef>
          </c:tx>
          <c:spPr>
            <a:solidFill>
              <a:srgbClr val="0F3460"/>
            </a:solidFill>
          </c:spPr>
          <c:cat>
            <c:strRef>
              <c:f>Sheet1!$A$2:$A$9</c:f>
              <c:strCache>
                <c:ptCount val="8"/>
                <c:pt idx="0">
                  <c:v>RECEIVED</c:v>
                </c:pt>
                <c:pt idx="1">
                  <c:v>ASSIGNED</c:v>
                </c:pt>
                <c:pt idx="2">
                  <c:v>IN CAL.</c:v>
                </c:pt>
                <c:pt idx="3">
                  <c:v>REVIEW</c:v>
                </c:pt>
                <c:pt idx="4">
                  <c:v>APPROVED</c:v>
                </c:pt>
                <c:pt idx="5">
                  <c:v>CERT.</c:v>
                </c:pt>
                <c:pt idx="6">
                  <c:v>DELIVERED</c:v>
                </c:pt>
                <c:pt idx="7">
                  <c:v>CLOSED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42</c:v>
                </c:pt>
                <c:pt idx="1">
                  <c:v>38</c:v>
                </c:pt>
                <c:pt idx="2">
                  <c:v>65</c:v>
                </c:pt>
                <c:pt idx="3">
                  <c:v>28</c:v>
                </c:pt>
                <c:pt idx="4">
                  <c:v>55</c:v>
                </c:pt>
                <c:pt idx="5">
                  <c:v>80</c:v>
                </c:pt>
                <c:pt idx="6">
                  <c:v>70</c:v>
                </c:pt>
                <c:pt idx="7">
                  <c:v>210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F3460"/>
                </a:solidFill>
              </a:rPr>
              <a:t>Monthly Revenue Growth (₹ Lakhs)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CLMS (₹L)</c:v>
                </c:pt>
              </c:strCache>
            </c:strRef>
          </c:tx>
          <c:spPr>
            <a:ln>
              <a:solidFill>
                <a:srgbClr val="CF1322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</c:v>
                </c:pt>
                <c:pt idx="1">
                  <c:v>8.2</c:v>
                </c:pt>
                <c:pt idx="2">
                  <c:v>7.8</c:v>
                </c:pt>
                <c:pt idx="3">
                  <c:v>8.5</c:v>
                </c:pt>
                <c:pt idx="4">
                  <c:v>8.1</c:v>
                </c:pt>
                <c:pt idx="5">
                  <c:v>8.3</c:v>
                </c:pt>
                <c:pt idx="6">
                  <c:v>8.0</c:v>
                </c:pt>
                <c:pt idx="7">
                  <c:v>8.4</c:v>
                </c:pt>
                <c:pt idx="8">
                  <c:v>8.2</c:v>
                </c:pt>
                <c:pt idx="9">
                  <c:v>8.6</c:v>
                </c:pt>
                <c:pt idx="10">
                  <c:v>8.1</c:v>
                </c:pt>
                <c:pt idx="11">
                  <c:v>8.5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CLMS (₹L)</c:v>
                </c:pt>
              </c:strCache>
            </c:strRef>
          </c:tx>
          <c:spPr>
            <a:ln>
              <a:solidFill>
                <a:srgbClr val="52C41A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8.5</c:v>
                </c:pt>
                <c:pt idx="1">
                  <c:v>9.2</c:v>
                </c:pt>
                <c:pt idx="2">
                  <c:v>10.1</c:v>
                </c:pt>
                <c:pt idx="3">
                  <c:v>10.8</c:v>
                </c:pt>
                <c:pt idx="4">
                  <c:v>11.5</c:v>
                </c:pt>
                <c:pt idx="5">
                  <c:v>12.2</c:v>
                </c:pt>
                <c:pt idx="6">
                  <c:v>12.8</c:v>
                </c:pt>
                <c:pt idx="7">
                  <c:v>13.5</c:v>
                </c:pt>
                <c:pt idx="8">
                  <c:v>14.2</c:v>
                </c:pt>
                <c:pt idx="9">
                  <c:v>14.8</c:v>
                </c:pt>
                <c:pt idx="10">
                  <c:v>15.5</c:v>
                </c:pt>
                <c:pt idx="11">
                  <c:v>16.2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100" b="1">
                <a:solidFill>
                  <a:srgbClr val="0F3460"/>
                </a:solidFill>
              </a:rPr>
              <a:t>Customer Satisfaction (Post-CLMS)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52C41A"/>
              </a:solidFill>
            </c:spPr>
          </c:dPt>
          <c:dPt>
            <c:idx val="1"/>
            <c:spPr>
              <a:solidFill>
                <a:srgbClr val="1677FF"/>
              </a:solidFill>
            </c:spPr>
          </c:dPt>
          <c:dPt>
            <c:idx val="2"/>
            <c:spPr>
              <a:solidFill>
                <a:srgbClr val="F5A623"/>
              </a:solidFill>
            </c:spPr>
          </c:dPt>
          <c:dPt>
            <c:idx val="3"/>
            <c:spPr>
              <a:solidFill>
                <a:srgbClr val="E94560"/>
              </a:solidFill>
            </c:spPr>
          </c:dPt>
          <c:cat>
            <c:strRef>
              <c:f>Sheet1!$A$2:$A$5</c:f>
              <c:strCache>
                <c:ptCount val="4"/>
                <c:pt idx="0">
                  <c:v>Very Satisfied</c:v>
                </c:pt>
                <c:pt idx="1">
                  <c:v>Satisfied</c:v>
                </c:pt>
                <c:pt idx="2">
                  <c:v>Neutral</c:v>
                </c:pt>
                <c:pt idx="3">
                  <c:v>Dissatisfied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58</c:v>
                </c:pt>
                <c:pt idx="1">
                  <c:v>28</c:v>
                </c:pt>
                <c:pt idx="2">
                  <c:v>10</c:v>
                </c:pt>
                <c:pt idx="3">
                  <c:v>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F3460"/>
                </a:solidFill>
              </a:rPr>
              <a:t>NCR Reduction Over Time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NCR Count</c:v>
                </c:pt>
              </c:strCache>
            </c:strRef>
          </c:tx>
          <c:spPr>
            <a:solidFill>
              <a:srgbClr val="E94560"/>
            </a:solidFill>
          </c:spPr>
          <c:cat>
            <c:strRef>
              <c:f>Sheet1!$A$2:$A$7</c:f>
              <c:strCache>
                <c:ptCount val="6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  <c:pt idx="4">
                  <c:v>Q1+1</c:v>
                </c:pt>
                <c:pt idx="5">
                  <c:v>Q2+1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22</c:v>
                </c:pt>
                <c:pt idx="1">
                  <c:v>18</c:v>
                </c:pt>
                <c:pt idx="2">
                  <c:v>14</c:v>
                </c:pt>
                <c:pt idx="3">
                  <c:v>9</c:v>
                </c:pt>
                <c:pt idx="4">
                  <c:v>6</c:v>
                </c:pt>
                <c:pt idx="5">
                  <c:v>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4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A1F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95360" y="91439"/>
            <a:ext cx="2011680" cy="2011680"/>
          </a:xfrm>
          <a:prstGeom prst="ellipse">
            <a:avLst/>
          </a:prstGeom>
          <a:solidFill>
            <a:srgbClr val="1A2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01200" y="3200400"/>
            <a:ext cx="2743200" cy="2743200"/>
          </a:xfrm>
          <a:prstGeom prst="ellipse">
            <a:avLst/>
          </a:prstGeom>
          <a:solidFill>
            <a:srgbClr val="1A2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0" y="5029200"/>
            <a:ext cx="914400" cy="914400"/>
          </a:xfrm>
          <a:prstGeom prst="ellipse">
            <a:avLst/>
          </a:prstGeom>
          <a:solidFill>
            <a:srgbClr val="1A2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914400"/>
            <a:ext cx="1005840" cy="10058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960120"/>
            <a:ext cx="100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91440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94560"/>
                </a:solidFill>
              </a:rPr>
              <a:t>CORTEX TECHNOLOGIES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37160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</a:rPr>
              <a:t>CortexCLMS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69748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B0C4DE"/>
                </a:solidFill>
              </a:rPr>
              <a:t>Calibration Laboratory
Management System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91640" y="3840480"/>
            <a:ext cx="502920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91640" y="402336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DDF0"/>
                </a:solidFill>
              </a:rPr>
              <a:t>Automate, Comply, and Grow — End-to-End Lab Management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6217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88AA"/>
                </a:solidFill>
              </a:rPr>
              <a:t>Product Presentation  · 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1120" y="2743200"/>
            <a:ext cx="2834640" cy="5486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79408" y="2761488"/>
            <a:ext cx="2798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ISO 17025  |  NABL Ready  |  GST Compliant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Today's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What we'll cover in this presentation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36576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73152" cy="10058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79" y="1261872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94560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26187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About Cortex Technologies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6916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</a:rPr>
              <a:t>Our mission, vision &amp; technology backbone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188720"/>
            <a:ext cx="576072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188720"/>
            <a:ext cx="73152" cy="10058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261872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94560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1261872"/>
            <a:ext cx="4937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The Lab Management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1691640"/>
            <a:ext cx="4937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</a:rPr>
              <a:t>Pain points calibration labs face today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423160"/>
            <a:ext cx="36576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2423160"/>
            <a:ext cx="73152" cy="10058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79" y="2496312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94560"/>
                </a:solidFill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49631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Introducing CortexCLMS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92608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</a:rPr>
              <a:t>Product overview &amp; key modules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2423160"/>
            <a:ext cx="576072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2423160"/>
            <a:ext cx="73152" cy="10058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2496312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94560"/>
                </a:solidFill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2496312"/>
            <a:ext cx="4937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Uncertainty Calculations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2926080"/>
            <a:ext cx="4937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</a:rPr>
              <a:t>Built-in GUM-compliant uncertainty engine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657600"/>
            <a:ext cx="36576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3657600"/>
            <a:ext cx="73152" cy="10058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79" y="3730752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94560"/>
                </a:solidFill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7307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Key Benefits &amp; ROI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16052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</a:rPr>
              <a:t>How CLMS transforms your operations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3657600"/>
            <a:ext cx="576072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26480" y="3657600"/>
            <a:ext cx="73152" cy="10058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3640" y="3730752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94560"/>
                </a:solidFill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3730752"/>
            <a:ext cx="4937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Performance Analytics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4160520"/>
            <a:ext cx="4937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</a:rPr>
              <a:t>Charts &amp; data from real lab deployments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892040"/>
            <a:ext cx="36576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74320" y="4892040"/>
            <a:ext cx="73152" cy="10058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79" y="4965192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94560"/>
                </a:solidFill>
              </a:rPr>
              <a:t>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96519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Pricing Plans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539496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</a:rPr>
              <a:t>Flexible plans for every lab size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26480" y="4892040"/>
            <a:ext cx="576072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26480" y="4892040"/>
            <a:ext cx="73152" cy="10058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63640" y="4965192"/>
            <a:ext cx="640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94560"/>
                </a:solidFill>
              </a:rPr>
              <a:t>08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4965192"/>
            <a:ext cx="4937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Next Steps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12280" y="5394960"/>
            <a:ext cx="4937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</a:rPr>
              <a:t>How to get started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09728" cy="58064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About Cortex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Powering the next generation of calibration laboratory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5303520" cy="1920240"/>
          </a:xfrm>
          <a:prstGeom prst="rect">
            <a:avLst/>
          </a:prstGeom>
          <a:solidFill>
            <a:srgbClr val="F5F7F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🎯  Our Mission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To digitize and automate calibration laboratory operations across India and beyond — delivering purpose-built software that saves time, ensures NABL compliance, and grows lab revenue.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760720" y="1234440"/>
            <a:ext cx="6035040" cy="1920240"/>
          </a:xfrm>
          <a:prstGeom prst="rect">
            <a:avLst/>
          </a:prstGeom>
          <a:solidFill>
            <a:srgbClr val="F5F7F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0" y="132588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3460"/>
                </a:solidFill>
              </a:rPr>
              <a:t>🚀  Our Vision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737360"/>
            <a:ext cx="5760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To become the #1 CLMS platform for accredited calibration labs in South Asia by 2028 — with a suite of cloud-native products that set the industry benchmark for quality and compliance.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383280"/>
            <a:ext cx="18288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383280"/>
            <a:ext cx="1828800" cy="5486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456432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931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F3460"/>
                </a:solidFill>
              </a:rPr>
              <a:t>Calibration-First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2976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Built specifically for calibration labs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58568" y="3383280"/>
            <a:ext cx="18288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58568" y="3383280"/>
            <a:ext cx="1828800" cy="5486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50008" y="3456432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☁️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50008" y="3931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F3460"/>
                </a:solidFill>
              </a:rPr>
              <a:t>Cloud Native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50008" y="42976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99.9% uptime SLA, auto-scaling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42816" y="3383280"/>
            <a:ext cx="18288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42816" y="3383280"/>
            <a:ext cx="1828800" cy="5486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34255" y="3456432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34255" y="3931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F3460"/>
                </a:solidFill>
              </a:rPr>
              <a:t>Enterprise Security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42976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ISO 27001, SOC2 aligned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27064" y="3383280"/>
            <a:ext cx="18288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27064" y="3383280"/>
            <a:ext cx="1828800" cy="5486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3" y="3456432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3" y="3931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F3460"/>
                </a:solidFill>
              </a:rPr>
              <a:t>Mobile Ready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3" y="42976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Works on any device, anywhere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11312" y="3383280"/>
            <a:ext cx="18288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11312" y="3383280"/>
            <a:ext cx="1828800" cy="5486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3456432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2752" y="3931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F3460"/>
                </a:solidFill>
              </a:rPr>
              <a:t>Multi-Tenant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42976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Unlimited labs on one platform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195560" y="3383280"/>
            <a:ext cx="182880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195560" y="3383280"/>
            <a:ext cx="1828800" cy="5486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87000" y="3456432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39319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F3460"/>
                </a:solidFill>
              </a:rPr>
              <a:t>Integrations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42976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ERP, NABL portal, Email &amp; more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5166360"/>
            <a:ext cx="11612880" cy="14173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28523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5A623"/>
                </a:solidFill>
              </a:rPr>
              <a:t>150+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83387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</a:rPr>
              <a:t>Labs Onboarded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47872" y="528523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5A623"/>
                </a:solidFill>
              </a:rPr>
              <a:t>50,000+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47872" y="583387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</a:rPr>
              <a:t>Certificates Issued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55664" y="528523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5A623"/>
                </a:solidFill>
              </a:rPr>
              <a:t>98%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55664" y="583387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</a:rPr>
              <a:t>Customer Retention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63456" y="528523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5A623"/>
                </a:solidFill>
              </a:rPr>
              <a:t>NABL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63456" y="5833872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</a:rPr>
              <a:t>Accreditation Ready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The Problem: What Labs Struggle With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CC"/>
                </a:solidFill>
              </a:rPr>
              <a:t>Pain points that cost labs time, money, and accreditation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669280" cy="1188720"/>
          </a:xfrm>
          <a:prstGeom prst="rect">
            <a:avLst/>
          </a:prstGeom>
          <a:solidFill>
            <a:srgbClr val="1E1E3A"/>
          </a:solidFill>
          <a:ln w="6350">
            <a:solidFill>
              <a:srgbClr val="E9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73152" cy="1188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29844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2801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888"/>
                </a:solidFill>
              </a:rPr>
              <a:t>Paper-Based Chaos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664208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D"/>
                </a:solidFill>
              </a:rPr>
              <a:t>Job cards, datasheets, and certificates managed on paper or Excel — prone to errors, loss, and version conflicts.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188720"/>
            <a:ext cx="5669280" cy="1188720"/>
          </a:xfrm>
          <a:prstGeom prst="rect">
            <a:avLst/>
          </a:prstGeom>
          <a:solidFill>
            <a:srgbClr val="1E1E3A"/>
          </a:solidFill>
          <a:ln w="6350">
            <a:solidFill>
              <a:srgbClr val="E9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188720"/>
            <a:ext cx="73152" cy="1188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1" y="129844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⏱️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12801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888"/>
                </a:solidFill>
              </a:rPr>
              <a:t>Slow Turnaround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664208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D"/>
                </a:solidFill>
              </a:rPr>
              <a:t>Manual status tracking means no one knows where a job is. Customers chase the lab for updates via phone calls.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514600"/>
            <a:ext cx="5669280" cy="1188720"/>
          </a:xfrm>
          <a:prstGeom prst="rect">
            <a:avLst/>
          </a:prstGeom>
          <a:solidFill>
            <a:srgbClr val="1E1E3A"/>
          </a:solidFill>
          <a:ln w="6350">
            <a:solidFill>
              <a:srgbClr val="E9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2514600"/>
            <a:ext cx="73152" cy="1188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6243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606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888"/>
                </a:solidFill>
              </a:rPr>
              <a:t>NABL Audit 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990088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D"/>
                </a:solidFill>
              </a:rPr>
              <a:t>Missing environmental logs, expired reference standards, unsigned documents — discovered only during audits.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514600"/>
            <a:ext cx="5669280" cy="1188720"/>
          </a:xfrm>
          <a:prstGeom prst="rect">
            <a:avLst/>
          </a:prstGeom>
          <a:solidFill>
            <a:srgbClr val="1E1E3A"/>
          </a:solidFill>
          <a:ln w="6350">
            <a:solidFill>
              <a:srgbClr val="E9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2514600"/>
            <a:ext cx="73152" cy="1188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26243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606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888"/>
                </a:solidFill>
              </a:rPr>
              <a:t>Revenue Leakage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990088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D"/>
                </a:solidFill>
              </a:rPr>
              <a:t>Jobs completed but not invoiced. Quotations never followed up. No visibility into outstanding dues.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840480"/>
            <a:ext cx="5669280" cy="1188720"/>
          </a:xfrm>
          <a:prstGeom prst="rect">
            <a:avLst/>
          </a:prstGeom>
          <a:solidFill>
            <a:srgbClr val="1E1E3A"/>
          </a:solidFill>
          <a:ln w="6350">
            <a:solidFill>
              <a:srgbClr val="E9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3840480"/>
            <a:ext cx="73152" cy="1188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" y="395020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9319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888"/>
                </a:solidFill>
              </a:rPr>
              <a:t>Zero Analytics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315968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D"/>
                </a:solidFill>
              </a:rPr>
              <a:t>No data on engineer productivity, repeat complaints, or revenue trends. Decisions are based on guesswork.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3840480"/>
            <a:ext cx="5669280" cy="1188720"/>
          </a:xfrm>
          <a:prstGeom prst="rect">
            <a:avLst/>
          </a:prstGeom>
          <a:solidFill>
            <a:srgbClr val="1E1E3A"/>
          </a:solidFill>
          <a:ln w="6350">
            <a:solidFill>
              <a:srgbClr val="E9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3840480"/>
            <a:ext cx="73152" cy="1188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28231" y="395020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9319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888"/>
                </a:solidFill>
              </a:rPr>
              <a:t>No Customer Portal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4315968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D"/>
                </a:solidFill>
              </a:rPr>
              <a:t>Customers cannot self-check job status or download certificates — leading to support overload for lab staff.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166359"/>
            <a:ext cx="5669280" cy="1188720"/>
          </a:xfrm>
          <a:prstGeom prst="rect">
            <a:avLst/>
          </a:prstGeom>
          <a:solidFill>
            <a:srgbClr val="1E1E3A"/>
          </a:solidFill>
          <a:ln w="6350">
            <a:solidFill>
              <a:srgbClr val="E9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74320" y="5166359"/>
            <a:ext cx="73152" cy="1188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52760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25779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888"/>
                </a:solidFill>
              </a:rPr>
              <a:t>Repeat Manual Work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5641848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D"/>
                </a:solidFill>
              </a:rPr>
              <a:t>Certificate data re-entered 3 times: datasheet → certificate → register → invoice. Every step is error-prone.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3640" y="5166359"/>
            <a:ext cx="5669280" cy="1188720"/>
          </a:xfrm>
          <a:prstGeom prst="rect">
            <a:avLst/>
          </a:prstGeom>
          <a:solidFill>
            <a:srgbClr val="1E1E3A"/>
          </a:solidFill>
          <a:ln w="6350">
            <a:solidFill>
              <a:srgbClr val="E9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5166359"/>
            <a:ext cx="73152" cy="1188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28231" y="52760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525779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888"/>
                </a:solidFill>
              </a:rPr>
              <a:t>No Role Control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5641848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DD"/>
                </a:solidFill>
              </a:rPr>
              <a:t>Everyone sees everything. Junior staff can accidentally modify approved certificates or closed records.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CortexCLMS — Complete 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27 integrated modules covering every lab function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1609344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243584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🗂️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682496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Jobs</a:t>
            </a:r>
          </a:p>
        </p:txBody>
      </p:sp>
      <p:sp>
        <p:nvSpPr>
          <p:cNvPr id="8" name="Rectangle 7"/>
          <p:cNvSpPr/>
          <p:nvPr/>
        </p:nvSpPr>
        <p:spPr>
          <a:xfrm>
            <a:off x="1956816" y="1188720"/>
            <a:ext cx="1609344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02536" y="1243584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02536" y="1682496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Certificates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39312" y="1188720"/>
            <a:ext cx="1609344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5032" y="1243584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1682496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Instruments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21808" y="1188720"/>
            <a:ext cx="1609344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67528" y="1243584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67528" y="1682496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Ref. Standards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04304" y="1188720"/>
            <a:ext cx="1609344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50024" y="1243584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0024" y="1682496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Cal. Masters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0" y="1188720"/>
            <a:ext cx="1609344" cy="100584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2520" y="1243584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🌡️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20" y="1682496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Environmental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369296" y="1188720"/>
            <a:ext cx="1609344" cy="100584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15016" y="1243584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15016" y="1682496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Customers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304288"/>
            <a:ext cx="1609344" cy="100584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2359152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2798064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Leads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56816" y="2304288"/>
            <a:ext cx="1609344" cy="100584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02536" y="2359152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02536" y="2798064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CRM Activities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39312" y="2304288"/>
            <a:ext cx="1609344" cy="100584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85032" y="2359152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85032" y="2798064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Quotations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21808" y="2304288"/>
            <a:ext cx="1609344" cy="100584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67528" y="2359152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67528" y="2798064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Invoices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04304" y="2304288"/>
            <a:ext cx="1609344" cy="100584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50024" y="2359152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50024" y="2798064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Purchase Orders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86800" y="2304288"/>
            <a:ext cx="1609344" cy="1005840"/>
          </a:xfrm>
          <a:prstGeom prst="rect">
            <a:avLst/>
          </a:prstGeom>
          <a:solidFill>
            <a:srgbClr val="1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32520" y="2359152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🚚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32520" y="2798064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Delivery Challans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69296" y="2304288"/>
            <a:ext cx="1609344" cy="1005840"/>
          </a:xfrm>
          <a:prstGeom prst="rect">
            <a:avLst/>
          </a:prstGeom>
          <a:solidFill>
            <a:srgbClr val="6B2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15016" y="2359152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⚠️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15016" y="2798064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NCR/CAPA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3419856"/>
            <a:ext cx="1609344" cy="1005840"/>
          </a:xfrm>
          <a:prstGeom prst="rect">
            <a:avLst/>
          </a:prstGeom>
          <a:solidFill>
            <a:srgbClr val="6B2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20040" y="3474720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" y="3913632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Complaints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956816" y="3419856"/>
            <a:ext cx="1609344" cy="1005840"/>
          </a:xfrm>
          <a:prstGeom prst="rect">
            <a:avLst/>
          </a:prstGeom>
          <a:solidFill>
            <a:srgbClr val="6B2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02536" y="3474720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02536" y="3913632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Lab Docs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39312" y="3419856"/>
            <a:ext cx="1609344" cy="1005840"/>
          </a:xfrm>
          <a:prstGeom prst="rect">
            <a:avLst/>
          </a:prstGeom>
          <a:solidFill>
            <a:srgbClr val="6B2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85032" y="3474720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🔍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85032" y="3913632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Internal Audit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21808" y="3419856"/>
            <a:ext cx="1609344" cy="1005840"/>
          </a:xfrm>
          <a:prstGeom prst="rect">
            <a:avLst/>
          </a:prstGeom>
          <a:solidFill>
            <a:srgbClr val="4A1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67528" y="3474720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67528" y="3913632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Tasks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04304" y="3419856"/>
            <a:ext cx="1609344" cy="1005840"/>
          </a:xfrm>
          <a:prstGeom prst="rect">
            <a:avLst/>
          </a:prstGeom>
          <a:solidFill>
            <a:srgbClr val="4A1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050024" y="3474720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50024" y="3913632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Engineers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86800" y="3419856"/>
            <a:ext cx="1609344" cy="1005840"/>
          </a:xfrm>
          <a:prstGeom prst="rect">
            <a:avLst/>
          </a:prstGeom>
          <a:solidFill>
            <a:srgbClr val="4A1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32520" y="3474720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👤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32520" y="3913632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Users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69296" y="3419856"/>
            <a:ext cx="1609344" cy="1005840"/>
          </a:xfrm>
          <a:prstGeom prst="rect">
            <a:avLst/>
          </a:prstGeom>
          <a:solidFill>
            <a:srgbClr val="4A1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415016" y="3474720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15016" y="3913632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Inventory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74320" y="4535424"/>
            <a:ext cx="1609344" cy="1005840"/>
          </a:xfrm>
          <a:prstGeom prst="rect">
            <a:avLst/>
          </a:prstGeom>
          <a:solidFill>
            <a:srgbClr val="4A1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20040" y="4590288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0040" y="5029200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Reports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956816" y="4535424"/>
            <a:ext cx="1609344" cy="1005840"/>
          </a:xfrm>
          <a:prstGeom prst="rect">
            <a:avLst/>
          </a:prstGeom>
          <a:solidFill>
            <a:srgbClr val="4A1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002536" y="4590288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02536" y="5029200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Notifications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39312" y="4535424"/>
            <a:ext cx="1609344" cy="1005840"/>
          </a:xfrm>
          <a:prstGeom prst="rect">
            <a:avLst/>
          </a:prstGeom>
          <a:solidFill>
            <a:srgbClr val="4A1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685032" y="4590288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⚙️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85032" y="5029200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Settings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321808" y="4535424"/>
            <a:ext cx="1609344" cy="1005840"/>
          </a:xfrm>
          <a:prstGeom prst="rect">
            <a:avLst/>
          </a:prstGeom>
          <a:solidFill>
            <a:srgbClr val="7A4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367528" y="4590288"/>
            <a:ext cx="15179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367528" y="5029200"/>
            <a:ext cx="15179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Customer Portal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74320" y="6446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F3460"/>
                </a:solidFill>
              </a:rPr>
              <a:t>■ Calibration Ops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651760" y="6446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A5C2A"/>
                </a:solidFill>
              </a:rPr>
              <a:t>■ CRM &amp; Billing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9200" y="6446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210E"/>
                </a:solidFill>
              </a:rPr>
              <a:t>■ Quality &amp; Compliance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406640" y="6446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A1F6B"/>
                </a:solidFill>
              </a:rPr>
              <a:t>■ Administration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784080" y="6446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A4A00"/>
                </a:solidFill>
              </a:rPr>
              <a:t>■ Customer Portal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09728" cy="58064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Built-In Uncertainty Calculations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GUM-compliant measurement uncertainty engine built directly into datasheets and certificates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94960" cy="1874519"/>
          </a:xfrm>
          <a:prstGeom prst="rect">
            <a:avLst/>
          </a:prstGeom>
          <a:solidFill>
            <a:srgbClr val="F5F7FA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61872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3460"/>
                </a:solidFill>
              </a:rPr>
              <a:t>📐  What is Measurement Uncertainty?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64208"/>
            <a:ext cx="51206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Measurement Uncertainty (MU) is a quantified doubt about the result of a measurement. As per ISO/IEC 17025:2017, every calibration certificate MUST state the uncertainty of measurement to demonstrate metrological traceability.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806440" y="1188720"/>
            <a:ext cx="6080760" cy="1874519"/>
          </a:xfrm>
          <a:prstGeom prst="rect">
            <a:avLst/>
          </a:prstGeom>
          <a:solidFill>
            <a:srgbClr val="E6F4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89320" y="1261872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3460"/>
                </a:solidFill>
              </a:rPr>
              <a:t>📋  GUM Standard (JCGM 100:2008)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664208"/>
            <a:ext cx="57607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CortexCLMS follows the Guide to the Expression of Uncertainty in Measurement (GUM). All uncertainty components are classified as Type A (statistical) or Type B (non-statistical) and combined using the law of propagation of uncertainties.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32004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3460"/>
                </a:solidFill>
              </a:rPr>
              <a:t>Uncertainty Budget Components — Automatically Computed by CortexCLMS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584448"/>
            <a:ext cx="11612880" cy="3657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3703320"/>
            <a:ext cx="278892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3703320"/>
            <a:ext cx="2788920" cy="54864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79" y="3794760"/>
            <a:ext cx="685800" cy="4114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" y="3822191"/>
            <a:ext cx="6492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uRef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803904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F3460"/>
                </a:solidFill>
              </a:rPr>
              <a:t>Reference Standard
Uncertainty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79" y="4315968"/>
            <a:ext cx="254203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Type B — Certificate uncertainty of the reference standard used, divided by coverage factor 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64408" y="3703320"/>
            <a:ext cx="278892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64408" y="3703320"/>
            <a:ext cx="2788920" cy="54864"/>
          </a:xfrm>
          <a:prstGeom prst="rect">
            <a:avLst/>
          </a:prstGeom>
          <a:solidFill>
            <a:srgbClr val="0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01568" y="3794760"/>
            <a:ext cx="685800" cy="411480"/>
          </a:xfrm>
          <a:prstGeom prst="rect">
            <a:avLst/>
          </a:prstGeom>
          <a:solidFill>
            <a:srgbClr val="0A5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19856" y="3822191"/>
            <a:ext cx="6492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8808" y="3803904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A5C2A"/>
                </a:solidFill>
              </a:rPr>
              <a:t>Resolution
Uncertainty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1568" y="4315968"/>
            <a:ext cx="254203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Type B — Half the least significant digit (LSD) of the instrument under test, divided by √3.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54496" y="3703320"/>
            <a:ext cx="278892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54496" y="3703320"/>
            <a:ext cx="2788920" cy="54864"/>
          </a:xfrm>
          <a:prstGeom prst="rect">
            <a:avLst/>
          </a:prstGeom>
          <a:solidFill>
            <a:srgbClr val="6B2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91656" y="3794760"/>
            <a:ext cx="685800" cy="411480"/>
          </a:xfrm>
          <a:prstGeom prst="rect">
            <a:avLst/>
          </a:prstGeom>
          <a:solidFill>
            <a:srgbClr val="6B21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9944" y="3822191"/>
            <a:ext cx="6492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uRep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8896" y="3803904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6B210E"/>
                </a:solidFill>
              </a:rPr>
              <a:t>Repeatability
Uncertainty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91656" y="4315968"/>
            <a:ext cx="254203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Type A — Standard deviation of repeated readings divided by √n (minimum 3 readings).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44584" y="3703320"/>
            <a:ext cx="278892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44584" y="3703320"/>
            <a:ext cx="2788920" cy="54864"/>
          </a:xfrm>
          <a:prstGeom prst="rect">
            <a:avLst/>
          </a:prstGeom>
          <a:solidFill>
            <a:srgbClr val="4A1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81744" y="3794760"/>
            <a:ext cx="685800" cy="411480"/>
          </a:xfrm>
          <a:prstGeom prst="rect">
            <a:avLst/>
          </a:prstGeom>
          <a:solidFill>
            <a:srgbClr val="4A1F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00032" y="3822191"/>
            <a:ext cx="6492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uDrift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58984" y="3803904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4A1F6B"/>
                </a:solidFill>
              </a:rPr>
              <a:t>Drift / Stability
Uncertainty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81744" y="4315968"/>
            <a:ext cx="254203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Type B — Estimated from historical calibration data of the reference instrument.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5760720"/>
            <a:ext cx="11612880" cy="8686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583387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A623"/>
                </a:solidFill>
              </a:rPr>
              <a:t>Combined Standard Uncertainty: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0" y="5833872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uc = √(uRef² + uRes² + uRep² + uDrift²)     →     Expanded Uncertainty: U = uc × k   (k=2 for 95% confidence level, normal distribution)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Key Benefits of CortexCLMS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Measurable impact from day 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3749039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3749039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57200" y="1417320"/>
            <a:ext cx="640080" cy="640080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444752"/>
            <a:ext cx="603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444752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3460"/>
                </a:solidFill>
              </a:rPr>
              <a:t>60% Faster Certificate Issuance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9456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Automated datasheet-to-certificate pipeline eliminates manual re-entry. What took 2 days now takes 2 hours.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188720"/>
            <a:ext cx="3749039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188720"/>
            <a:ext cx="3749039" cy="73152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34840" y="1417320"/>
            <a:ext cx="640080" cy="640080"/>
          </a:xfrm>
          <a:prstGeom prst="ellipse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3127" y="1444752"/>
            <a:ext cx="603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79" y="1444752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3460"/>
                </a:solidFill>
              </a:rPr>
              <a:t>100% NABL Compliance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19456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Built-in workflows enforce ISO/IEC 17025 requirements. Environmental logs, reference standard tracking, and document control are automatic.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188720"/>
            <a:ext cx="3749039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188720"/>
            <a:ext cx="3749039" cy="73152"/>
          </a:xfrm>
          <a:prstGeom prst="rect">
            <a:avLst/>
          </a:prstGeom>
          <a:solidFill>
            <a:srgbClr val="52C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412480" y="1417320"/>
            <a:ext cx="640080" cy="640080"/>
          </a:xfrm>
          <a:prstGeom prst="ellipse">
            <a:avLst/>
          </a:prstGeom>
          <a:solidFill>
            <a:srgbClr val="52C4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8" y="1444752"/>
            <a:ext cx="603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1444752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3460"/>
                </a:solidFill>
              </a:rPr>
              <a:t>Zero Revenue Leakage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19456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Every completed job auto-generates a billing prompt. Pending invoices dashboard prevents forgotten billings. Average recovery: ₹2L/month.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794760"/>
            <a:ext cx="3749039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3794760"/>
            <a:ext cx="3749039" cy="73152"/>
          </a:xfrm>
          <a:prstGeom prst="rect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7200" y="4023360"/>
            <a:ext cx="640080" cy="640080"/>
          </a:xfrm>
          <a:prstGeom prst="ellipse">
            <a:avLst/>
          </a:prstGeom>
          <a:solidFill>
            <a:srgbClr val="16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4050792"/>
            <a:ext cx="603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050792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3460"/>
                </a:solidFill>
              </a:rPr>
              <a:t>Customer Self-Service Portal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0060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Customers check job status and download certificates 24/7. Lab support calls reduced by 70%. Customer satisfaction scores up 40%.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51959" y="3794760"/>
            <a:ext cx="3749039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51959" y="3794760"/>
            <a:ext cx="3749039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434840" y="4023360"/>
            <a:ext cx="640080" cy="6400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53127" y="4050792"/>
            <a:ext cx="603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79" y="4050792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3460"/>
                </a:solidFill>
              </a:rPr>
              <a:t>Real-Time Analytics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480060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Engineer productivity, revenue trends, NCR patterns, uncertainty budgets — all in one dashboard. Data-driven decisions replace guesswork.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0" y="3794760"/>
            <a:ext cx="3749039" cy="2423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0" y="3794760"/>
            <a:ext cx="3749039" cy="7315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412480" y="4023360"/>
            <a:ext cx="640080" cy="64008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30768" y="4050792"/>
            <a:ext cx="603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9720" y="4050792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3460"/>
                </a:solidFill>
              </a:rPr>
              <a:t>Role-Based Security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4800600"/>
            <a:ext cx="3383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Fine-grained access control ensures junior staff cannot modify approved records. Full audit trail on every change.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Before vs After CortexCLMS — The ROI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Average figures from 50+ deployed labs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43000"/>
            <a:ext cx="182880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179576"/>
            <a:ext cx="17190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Metric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1143000"/>
            <a:ext cx="256032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9312" y="1179576"/>
            <a:ext cx="24505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Without CLMS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1143000"/>
            <a:ext cx="256032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1179576"/>
            <a:ext cx="24505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With CortexCLMS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92640" y="1143000"/>
            <a:ext cx="2103120" cy="384048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65792" y="1179576"/>
            <a:ext cx="19933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Impact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527048"/>
            <a:ext cx="32461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6184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Certificate Issuance 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0" y="1527048"/>
            <a:ext cx="32461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16184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1322"/>
                </a:solidFill>
              </a:rPr>
              <a:t>3–5 days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1527048"/>
            <a:ext cx="27889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161848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2C41A"/>
                </a:solidFill>
              </a:rPr>
              <a:t>4–8 hours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92640" y="1527048"/>
            <a:ext cx="228600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0" y="161848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3460"/>
                </a:solidFill>
              </a:rPr>
              <a:t>85% faster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121408"/>
            <a:ext cx="32461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21284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Manual Data Entry (hrs/day)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2121408"/>
            <a:ext cx="32461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0" y="221284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1322"/>
                </a:solidFill>
              </a:rPr>
              <a:t>6–8 hours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2121408"/>
            <a:ext cx="27889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221284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2C41A"/>
                </a:solidFill>
              </a:rPr>
              <a:t>&lt; 1 hour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92640" y="2121408"/>
            <a:ext cx="228600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84080" y="221284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3460"/>
                </a:solidFill>
              </a:rPr>
              <a:t>87% reduction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2715768"/>
            <a:ext cx="32461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280720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Support Calls / Week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566160" y="2715768"/>
            <a:ext cx="32461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0" y="280720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1322"/>
                </a:solidFill>
              </a:rPr>
              <a:t>40–60 calls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0" y="2715768"/>
            <a:ext cx="27889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0" y="280720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2C41A"/>
                </a:solidFill>
              </a:rPr>
              <a:t>8–12 calls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92640" y="2715768"/>
            <a:ext cx="228600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84080" y="280720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3460"/>
                </a:solidFill>
              </a:rPr>
              <a:t>75% fewer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3310128"/>
            <a:ext cx="32461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40156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Revenue per Month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66160" y="3310128"/>
            <a:ext cx="32461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0" y="340156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1322"/>
                </a:solidFill>
              </a:rPr>
              <a:t>Baseline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0" y="3310128"/>
            <a:ext cx="27889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49440" y="340156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2C41A"/>
                </a:solidFill>
              </a:rPr>
              <a:t>+28%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92640" y="3310128"/>
            <a:ext cx="228600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84080" y="340156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3460"/>
                </a:solidFill>
              </a:rPr>
              <a:t>Revenue growth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3904487"/>
            <a:ext cx="32461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995927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NABL Audit Prep Time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566160" y="3904487"/>
            <a:ext cx="32461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0" y="3995927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1322"/>
                </a:solidFill>
              </a:rPr>
              <a:t>2 weeks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58000" y="3904487"/>
            <a:ext cx="27889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49440" y="3995927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2C41A"/>
                </a:solidFill>
              </a:rPr>
              <a:t>2 days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92640" y="3904487"/>
            <a:ext cx="228600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84080" y="3995927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3460"/>
                </a:solidFill>
              </a:rPr>
              <a:t>80% faster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4498848"/>
            <a:ext cx="32461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45902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Certificate Error Rate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566160" y="4498848"/>
            <a:ext cx="32461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57600" y="45902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1322"/>
                </a:solidFill>
              </a:rPr>
              <a:t>12–15%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858000" y="4498848"/>
            <a:ext cx="27889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949440" y="459028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2C41A"/>
                </a:solidFill>
              </a:rPr>
              <a:t>&lt; 0.5%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692640" y="4498848"/>
            <a:ext cx="228600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784080" y="459028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3460"/>
                </a:solidFill>
              </a:rPr>
              <a:t>96% fewer errors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5093208"/>
            <a:ext cx="32461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518464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Customer Satisfaction Score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566160" y="5093208"/>
            <a:ext cx="32461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657600" y="518464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1322"/>
                </a:solidFill>
              </a:rPr>
              <a:t>3.1 / 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858000" y="5093208"/>
            <a:ext cx="278892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949440" y="518464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2C41A"/>
                </a:solidFill>
              </a:rPr>
              <a:t>4.7 / 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692640" y="5093208"/>
            <a:ext cx="2286000" cy="566928"/>
          </a:xfrm>
          <a:prstGeom prst="rect">
            <a:avLst/>
          </a:prstGeom>
          <a:solidFill>
            <a:srgbClr val="FFFF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784080" y="5184648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3460"/>
                </a:solidFill>
              </a:rPr>
              <a:t>+52% NPS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74320" y="5687568"/>
            <a:ext cx="32461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65760" y="5779007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Pending Invoice Recovery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566160" y="5687568"/>
            <a:ext cx="32461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0" y="5779007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F1322"/>
                </a:solidFill>
              </a:rPr>
              <a:t>₹0/month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58000" y="5687568"/>
            <a:ext cx="278892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949440" y="5779007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52C41A"/>
                </a:solidFill>
              </a:rPr>
              <a:t>₹2L+/month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692640" y="5687568"/>
            <a:ext cx="2286000" cy="566928"/>
          </a:xfrm>
          <a:prstGeom prst="rect">
            <a:avLst/>
          </a:prstGeom>
          <a:solidFill>
            <a:srgbClr val="F0F4FF"/>
          </a:solidFill>
          <a:ln w="381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784080" y="5779007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3460"/>
                </a:solidFill>
              </a:rPr>
              <a:t>New revenue stream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Performance Analytics — Real Lab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Charts from aggregated deployments (anonymised)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74320" y="1188720"/>
          <a:ext cx="548640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943600" y="1188720"/>
          <a:ext cx="5943600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274320" y="3977639"/>
          <a:ext cx="3657600" cy="26517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114800" y="3977639"/>
          <a:ext cx="3931920" cy="265176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9" name="Rectangle 8"/>
          <p:cNvSpPr/>
          <p:nvPr/>
        </p:nvSpPr>
        <p:spPr>
          <a:xfrm>
            <a:off x="8321040" y="4069080"/>
            <a:ext cx="3657600" cy="6858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41148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</a:rPr>
              <a:t>4.9★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423367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Avg User Rating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0" y="4892040"/>
            <a:ext cx="3657600" cy="6858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493776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</a:rPr>
              <a:t>98%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505663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Retention 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5715000"/>
            <a:ext cx="3657600" cy="6858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576072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</a:rPr>
              <a:t>70%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587959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Call Reduction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CortexCLMS Pricing Plans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Transparent, all-inclusive pricing — no hidden charges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83464" y="1197864"/>
            <a:ext cx="2788920" cy="53949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788920" cy="5394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143000"/>
            <a:ext cx="2788920" cy="118872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234440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61848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Starter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1965960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CCDDFF"/>
                </a:solidFill>
              </a:rPr>
              <a:t>Up to 25 Users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" y="2331720"/>
            <a:ext cx="278892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2350008"/>
            <a:ext cx="2606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88"/>
                </a:solidFill>
              </a:rPr>
              <a:t>Implementation &amp; Onboarding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2560320"/>
            <a:ext cx="2606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3460"/>
                </a:solidFill>
              </a:rPr>
              <a:t>₹99,999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834640"/>
            <a:ext cx="2788920" cy="64008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8600" y="2880360"/>
            <a:ext cx="2788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₹15,000/month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" y="3227832"/>
            <a:ext cx="2788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CCDDFF"/>
                </a:solidFill>
              </a:rPr>
              <a:t>Monthly Subscription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6118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All Core Modules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9959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5 Engineer Accounts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37997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Email Support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76402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1 Lab Location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14807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Basic Reports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553212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Customer Portal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73552" y="1197864"/>
            <a:ext cx="2788920" cy="53949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18688" y="1143000"/>
            <a:ext cx="2788920" cy="5394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18688" y="1143000"/>
            <a:ext cx="2788920" cy="11887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18688" y="1143000"/>
            <a:ext cx="2788920" cy="2743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18688" y="1161288"/>
            <a:ext cx="2788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F3460"/>
                </a:solidFill>
              </a:rPr>
              <a:t>⭐ MOST POPULAR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18688" y="1463040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18688" y="184708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Professional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18688" y="2194560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CCDDFF"/>
                </a:solidFill>
              </a:rPr>
              <a:t>Up to 50 Users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18688" y="2331720"/>
            <a:ext cx="278892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10128" y="2350008"/>
            <a:ext cx="2606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88"/>
                </a:solidFill>
              </a:rPr>
              <a:t>Implementation &amp; Onboarding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10128" y="2560320"/>
            <a:ext cx="2606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3460"/>
                </a:solidFill>
              </a:rPr>
              <a:t>₹1,49,999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18688" y="2834640"/>
            <a:ext cx="2788920" cy="6400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18688" y="2880360"/>
            <a:ext cx="2788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₹22,000/month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18688" y="3227832"/>
            <a:ext cx="2788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CCDDFF"/>
                </a:solidFill>
              </a:rPr>
              <a:t>Monthly Subscription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36118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Everything in Starter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55848" y="39959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Unlimited Certificates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55848" y="437997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Priority Support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55848" y="476402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Multi-location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55848" y="514807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Advanced Analytics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55848" y="553212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API Access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591616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Custom Certificate Template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63640" y="1197864"/>
            <a:ext cx="2788920" cy="53949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08776" y="1143000"/>
            <a:ext cx="2788920" cy="5394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08776" y="1143000"/>
            <a:ext cx="2788920" cy="118872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08776" y="1234440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08776" y="161848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Enterprise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08776" y="1965960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CCDDFF"/>
                </a:solidFill>
              </a:rPr>
              <a:t>Up to 100 Users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08776" y="2331720"/>
            <a:ext cx="278892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00216" y="2350008"/>
            <a:ext cx="2606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88"/>
                </a:solidFill>
              </a:rPr>
              <a:t>Implementation &amp; Onboarding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0216" y="2560320"/>
            <a:ext cx="2606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3460"/>
                </a:solidFill>
              </a:rPr>
              <a:t>₹2,99,999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08776" y="2834640"/>
            <a:ext cx="2788920" cy="64008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08776" y="2880360"/>
            <a:ext cx="2788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₹35,000/month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08776" y="3227832"/>
            <a:ext cx="2788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CCDDFF"/>
                </a:solidFill>
              </a:rPr>
              <a:t>Monthly Subscription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45936" y="36118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Everything in Professional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39959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Dedicated Account Manager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437997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SLA Guarantee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45936" y="476402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Custom Integrations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45936" y="514807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On-premise Option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45936" y="553212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Training Workshops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45936" y="591616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NABL Audit Support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53728" y="1197864"/>
            <a:ext cx="2788920" cy="539496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198864" y="1143000"/>
            <a:ext cx="2788920" cy="5394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98864" y="1143000"/>
            <a:ext cx="2788920" cy="1188720"/>
          </a:xfrm>
          <a:prstGeom prst="rect">
            <a:avLst/>
          </a:prstGeom>
          <a:solidFill>
            <a:srgbClr val="2D1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98864" y="1234440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98864" y="1618488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Enterprise+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98864" y="1965960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CCDDFF"/>
                </a:solidFill>
              </a:rPr>
              <a:t>Unlimited Users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198864" y="2331720"/>
            <a:ext cx="278892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290304" y="2350008"/>
            <a:ext cx="2606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88"/>
                </a:solidFill>
              </a:rPr>
              <a:t>Implementation &amp; Onboarding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90304" y="2560320"/>
            <a:ext cx="2606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3460"/>
                </a:solidFill>
              </a:rPr>
              <a:t>Custom Quote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198864" y="2834640"/>
            <a:ext cx="2788920" cy="640080"/>
          </a:xfrm>
          <a:prstGeom prst="rect">
            <a:avLst/>
          </a:prstGeom>
          <a:solidFill>
            <a:srgbClr val="2D1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98864" y="2880360"/>
            <a:ext cx="2788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Custom Quote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98864" y="3227832"/>
            <a:ext cx="2788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CCDDFF"/>
                </a:solidFill>
              </a:rPr>
              <a:t>Monthly Subscription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336024" y="36118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Everything in Enterprise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36024" y="39959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White-label Option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336024" y="437997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Source Code License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36024" y="476402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Custom Uncertainty Models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336024" y="514807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Multi-lab Group Mgmt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336024" y="553212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24×7 Dedicated Support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336024" y="591616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</a:rPr>
              <a:t>✓  Quarterly Business Review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8600" y="6492240"/>
            <a:ext cx="1170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8888"/>
                </a:solidFill>
              </a:rPr>
              <a:t>* All plans include: Free Setup, Data Migration Assistance, User Training, 30-day free trial period, and 1-year bug-fix warranty.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Plan Comparison — Feature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See exactly what's included in each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3840480" cy="4572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61288"/>
            <a:ext cx="3703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143000"/>
            <a:ext cx="1920240" cy="4572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51959" y="1161288"/>
            <a:ext cx="17830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Starter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2194560" cy="4572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161288"/>
            <a:ext cx="2057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Professional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58200" y="1143000"/>
            <a:ext cx="2011680" cy="457200"/>
          </a:xfrm>
          <a:prstGeom prst="rect">
            <a:avLst/>
          </a:prstGeom>
          <a:solidFill>
            <a:srgbClr val="1A1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49640" y="1161288"/>
            <a:ext cx="1874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Enterprise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61320" y="1143000"/>
            <a:ext cx="2011680" cy="457200"/>
          </a:xfrm>
          <a:prstGeom prst="rect">
            <a:avLst/>
          </a:prstGeom>
          <a:solidFill>
            <a:srgbClr val="2D1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52760" y="1161288"/>
            <a:ext cx="1874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Enterprise+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1600200"/>
            <a:ext cx="38404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162763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No. of Users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1600200"/>
            <a:ext cx="192024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51959" y="162763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F3460"/>
                </a:solidFill>
              </a:rPr>
              <a:t>25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1600200"/>
            <a:ext cx="219456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162763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F3460"/>
                </a:solidFill>
              </a:rPr>
              <a:t>50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58200" y="160020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9640" y="162763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F3460"/>
                </a:solidFill>
              </a:rPr>
              <a:t>100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561320" y="160020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52760" y="162763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F3460"/>
                </a:solidFill>
              </a:rPr>
              <a:t>Unlimited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1874519"/>
            <a:ext cx="38404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1901951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Calibration Jobs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60520" y="1874519"/>
            <a:ext cx="192024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51959" y="1901951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874519"/>
            <a:ext cx="219456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1901951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58200" y="1874519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9640" y="1901951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561320" y="1874519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652760" y="1901951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" y="2148840"/>
            <a:ext cx="38404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217627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Certificate Generation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60520" y="2148840"/>
            <a:ext cx="192024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51959" y="217627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72200" y="2148840"/>
            <a:ext cx="219456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217627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8200" y="214884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49640" y="217627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561320" y="214884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52760" y="217627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8600" y="2423160"/>
            <a:ext cx="38404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" y="2450591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Customer Portal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60520" y="2423160"/>
            <a:ext cx="192024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51959" y="2450591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2423160"/>
            <a:ext cx="219456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63640" y="2450591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458200" y="242316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49640" y="2450591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561320" y="242316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652760" y="2450591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8600" y="2697480"/>
            <a:ext cx="38404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0040" y="272491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NABL Compliant Workflows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60520" y="2697480"/>
            <a:ext cx="192024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51959" y="272491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2697480"/>
            <a:ext cx="219456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63640" y="272491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58200" y="269748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49640" y="272491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561320" y="269748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652760" y="272491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28600" y="2971800"/>
            <a:ext cx="38404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20040" y="299923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CRM &amp; Leads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60520" y="2971800"/>
            <a:ext cx="192024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251959" y="299923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72200" y="2971800"/>
            <a:ext cx="219456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63640" y="299923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458200" y="297180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549640" y="299923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561320" y="297180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652760" y="299923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28600" y="3246120"/>
            <a:ext cx="38404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20040" y="3273551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Invoicing &amp; GST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60520" y="3246120"/>
            <a:ext cx="192024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251959" y="3273551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72200" y="3246120"/>
            <a:ext cx="219456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63640" y="3273551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458200" y="324612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549640" y="3273551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561320" y="324612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652760" y="3273551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28600" y="3520440"/>
            <a:ext cx="38404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20040" y="354787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NCR/CAPA &amp; Audits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160520" y="3520440"/>
            <a:ext cx="192024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251959" y="354787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172200" y="3520440"/>
            <a:ext cx="219456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263640" y="354787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458200" y="352044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549640" y="354787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561320" y="352044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652760" y="354787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28600" y="3794760"/>
            <a:ext cx="38404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20040" y="382219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Advanced Analytics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160520" y="3794760"/>
            <a:ext cx="192024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251959" y="382219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72200" y="3794760"/>
            <a:ext cx="219456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263640" y="382219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458200" y="379476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549640" y="382219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1320" y="379476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652760" y="382219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28600" y="4069079"/>
            <a:ext cx="38404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20040" y="4096511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API Access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160520" y="4069079"/>
            <a:ext cx="192024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251959" y="4096511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172200" y="4069079"/>
            <a:ext cx="219456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263640" y="4096511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458200" y="4069079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549640" y="4096511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561320" y="4069079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0652760" y="4096511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28600" y="4343400"/>
            <a:ext cx="38404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20040" y="437083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Custom Certificate Template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160520" y="4343400"/>
            <a:ext cx="192024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4251959" y="437083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172200" y="4343400"/>
            <a:ext cx="219456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263640" y="437083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58200" y="434340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549640" y="437083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561320" y="434340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652760" y="437083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28600" y="4617720"/>
            <a:ext cx="38404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20040" y="464515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Multi-location Support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160520" y="4617720"/>
            <a:ext cx="192024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251959" y="464515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172200" y="4617720"/>
            <a:ext cx="219456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263640" y="464515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458200" y="461772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549640" y="464515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0561320" y="461772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652760" y="464515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228600" y="4892040"/>
            <a:ext cx="38404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20040" y="491947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Dedicated Account Manager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4160520" y="4892040"/>
            <a:ext cx="192024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4251959" y="491947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172200" y="4892040"/>
            <a:ext cx="219456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263640" y="491947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458200" y="489204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549640" y="491947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0561320" y="489204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10652760" y="491947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228600" y="5166360"/>
            <a:ext cx="38404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20040" y="519379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SLA Guarantee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4160520" y="5166360"/>
            <a:ext cx="192024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251959" y="519379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172200" y="5166360"/>
            <a:ext cx="219456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263640" y="519379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8458200" y="516636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549640" y="519379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0561320" y="516636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0652760" y="519379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228600" y="5440680"/>
            <a:ext cx="38404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320040" y="546811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On-premise Option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4160520" y="5440680"/>
            <a:ext cx="192024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4251959" y="546811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172200" y="5440680"/>
            <a:ext cx="219456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263640" y="546811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458200" y="544068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49640" y="546811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10561320" y="544068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0652760" y="546811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228600" y="5715000"/>
            <a:ext cx="38404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20040" y="574243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White-label / Source Code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4160520" y="5715000"/>
            <a:ext cx="192024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251959" y="574243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172200" y="5715000"/>
            <a:ext cx="219456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263640" y="574243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8458200" y="571500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549640" y="574243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10561320" y="5715000"/>
            <a:ext cx="2011680" cy="274320"/>
          </a:xfrm>
          <a:prstGeom prst="rect">
            <a:avLst/>
          </a:prstGeom>
          <a:solidFill>
            <a:srgbClr val="F5F7FA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10652760" y="574243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28600" y="5989320"/>
            <a:ext cx="38404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320040" y="6016752"/>
            <a:ext cx="3703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33333"/>
                </a:solidFill>
              </a:rPr>
              <a:t>Custom Uncertainty Models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160520" y="5989320"/>
            <a:ext cx="192024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4251959" y="6016752"/>
            <a:ext cx="1783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172200" y="5989320"/>
            <a:ext cx="219456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263640" y="6016752"/>
            <a:ext cx="205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8458200" y="598932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8549640" y="601675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888888"/>
                </a:solidFill>
              </a:rPr>
              <a:t>—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10561320" y="5989320"/>
            <a:ext cx="2011680" cy="274320"/>
          </a:xfrm>
          <a:prstGeom prst="rect">
            <a:avLst/>
          </a:prstGeom>
          <a:solidFill>
            <a:srgbClr val="FFFFFF"/>
          </a:solidFill>
          <a:ln w="31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10652760" y="6016752"/>
            <a:ext cx="1874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2C41A"/>
                </a:solidFill>
              </a:rPr>
              <a:t>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Customer Portal — Self-Service Excellence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CCCC"/>
                </a:solidFill>
              </a:rPr>
              <a:t>Give customers 24/7 access to their calibration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19456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2194560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71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202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My Jobs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423160"/>
            <a:ext cx="1920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BCC"/>
                </a:solidFill>
              </a:rPr>
              <a:t>Track all calibration jobs in real-time. See status from RECEIVED to DELIVERED — no phone calls needed.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1280160"/>
            <a:ext cx="219456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51760" y="1280160"/>
            <a:ext cx="2194560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371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19202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Certificates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423160"/>
            <a:ext cx="1920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BCC"/>
                </a:solidFill>
              </a:rPr>
              <a:t>Download calibration certificates as PDF at any time. QR-code verified for authenticity.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1280160"/>
            <a:ext cx="219456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0" y="1280160"/>
            <a:ext cx="2194560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0" y="1371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19202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My Instruments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2423160"/>
            <a:ext cx="1920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BCC"/>
                </a:solidFill>
              </a:rPr>
              <a:t>View all registered instruments with calibration due dates and history.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1280160"/>
            <a:ext cx="219456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06640" y="1280160"/>
            <a:ext cx="2194560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0" y="1371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⚠️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0" y="19202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Raise Complaint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2423160"/>
            <a:ext cx="1920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BCC"/>
                </a:solidFill>
              </a:rPr>
              <a:t>Submit complaints directly from the portal. Auto-appears in the lab's Quality module.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84080" y="1280160"/>
            <a:ext cx="2194560" cy="27432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1280160"/>
            <a:ext cx="2194560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0" y="13716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19202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Give Feedback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21240" y="2423160"/>
            <a:ext cx="1920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BCC"/>
                </a:solidFill>
              </a:rPr>
              <a:t>Rate lab performance on 4 dimensions. Quality managers see it instantly.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4206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Setting Up Portal Access — 4 Simple Steps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2788920" cy="777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475488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1️⃣ Add customer in the Customers module with their email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46120" y="4709160"/>
            <a:ext cx="2788920" cy="777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37560" y="475488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2️⃣ Click 🔒 Set Portal Password on the customer record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4709160"/>
            <a:ext cx="2788920" cy="777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9359" y="475488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3️⃣ Share email, password &amp; lab accreditation code with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89720" y="4709160"/>
            <a:ext cx="2788920" cy="7772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81160" y="475488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4️⃣ Customer logs in at /portal — instant access!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346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Ready to Transform Your Lab?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830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0C4DE"/>
                </a:solidFill>
              </a:rPr>
              <a:t>Join 150+ calibration labs already running on CortexCLMS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23160"/>
            <a:ext cx="265176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63040" y="2514600"/>
            <a:ext cx="640080" cy="640080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2532888"/>
            <a:ext cx="603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94560"/>
                </a:solidFill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Book a Free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233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</a:rPr>
              <a:t>Schedule a 45-minute personalized demo. See your lab's workflow in the system.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2423160"/>
            <a:ext cx="265176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89120" y="2514600"/>
            <a:ext cx="640080" cy="640080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8" y="2532888"/>
            <a:ext cx="603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2461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94560"/>
                </a:solidFill>
              </a:rPr>
              <a:t>Step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35661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30-Day Free Trial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40233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</a:rPr>
              <a:t>Get full access to all features. Your data, your lab — zero commitment.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2423160"/>
            <a:ext cx="265176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315200" y="2514600"/>
            <a:ext cx="640080" cy="640080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3488" y="2532888"/>
            <a:ext cx="603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2461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94560"/>
                </a:solidFill>
              </a:rPr>
              <a:t>Step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5661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Onboarding &amp; Go-Live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0233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</a:rPr>
              <a:t>Our team handles data migration, training, and go-live support in 2 weeks.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35440" y="2423160"/>
            <a:ext cx="265176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241280" y="2514600"/>
            <a:ext cx="640080" cy="640080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59568" y="2532888"/>
            <a:ext cx="603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32461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94560"/>
                </a:solidFill>
              </a:rPr>
              <a:t>Step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35661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</a:rPr>
              <a:t>Grow &amp;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40233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</a:rPr>
              <a:t>Add more users, modules, and locations as your lab grows — plans scale with you.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166360"/>
            <a:ext cx="11612880" cy="14173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544068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📧 sales@cortexai.in     |     📞 +91 98765 43210     |     🌐 www.cortexai.in/clms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598932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CCCC"/>
                </a:solidFill>
              </a:rPr>
              <a:t>Cortex Technologies Pvt. Ltd.  ·  Making Calibration Labs Smarter, Faster, Compliant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