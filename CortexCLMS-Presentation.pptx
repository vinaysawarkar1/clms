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Monthly Job Distribution by Status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Jobs</c:v>
                </c:pt>
              </c:strCache>
            </c:strRef>
          </c:tx>
          <c:spPr>
            <a:solidFill>
              <a:srgbClr val="0F3460"/>
            </a:solidFill>
          </c:spPr>
          <c:cat>
            <c:strRef>
              <c:f>Sheet1!$A$2:$A$9</c:f>
              <c:strCache>
                <c:ptCount val="8"/>
                <c:pt idx="0">
                  <c:v>RECEIVED</c:v>
                </c:pt>
                <c:pt idx="1">
                  <c:v>ASSIGNED</c:v>
                </c:pt>
                <c:pt idx="2">
                  <c:v>IN CAL.</c:v>
                </c:pt>
                <c:pt idx="3">
                  <c:v>REVIEW</c:v>
                </c:pt>
                <c:pt idx="4">
                  <c:v>APPROVED</c:v>
                </c:pt>
                <c:pt idx="5">
                  <c:v>CERT.</c:v>
                </c:pt>
                <c:pt idx="6">
                  <c:v>DELIVERED</c:v>
                </c:pt>
                <c:pt idx="7">
                  <c:v>CLOSED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</c:v>
                </c:pt>
                <c:pt idx="1">
                  <c:v>38</c:v>
                </c:pt>
                <c:pt idx="2">
                  <c:v>65</c:v>
                </c:pt>
                <c:pt idx="3">
                  <c:v>28</c:v>
                </c:pt>
                <c:pt idx="4">
                  <c:v>55</c:v>
                </c:pt>
                <c:pt idx="5">
                  <c:v>80</c:v>
                </c:pt>
                <c:pt idx="6">
                  <c:v>70</c:v>
                </c:pt>
                <c:pt idx="7">
                  <c:v>210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Monthly Revenue Growth (₹ Lakhs)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CLMS (₹L)</c:v>
                </c:pt>
              </c:strCache>
            </c:strRef>
          </c:tx>
          <c:spPr>
            <a:ln>
              <a:solidFill>
                <a:srgbClr val="CF132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</c:v>
                </c:pt>
                <c:pt idx="1">
                  <c:v>8.2</c:v>
                </c:pt>
                <c:pt idx="2">
                  <c:v>7.8</c:v>
                </c:pt>
                <c:pt idx="3">
                  <c:v>8.5</c:v>
                </c:pt>
                <c:pt idx="4">
                  <c:v>8.1</c:v>
                </c:pt>
                <c:pt idx="5">
                  <c:v>8.3</c:v>
                </c:pt>
                <c:pt idx="6">
                  <c:v>8.0</c:v>
                </c:pt>
                <c:pt idx="7">
                  <c:v>8.4</c:v>
                </c:pt>
                <c:pt idx="8">
                  <c:v>8.2</c:v>
                </c:pt>
                <c:pt idx="9">
                  <c:v>8.6</c:v>
                </c:pt>
                <c:pt idx="10">
                  <c:v>8.1</c:v>
                </c:pt>
                <c:pt idx="11">
                  <c:v>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CLMS (₹L)</c:v>
                </c:pt>
              </c:strCache>
            </c:strRef>
          </c:tx>
          <c:spPr>
            <a:ln>
              <a:solidFill>
                <a:srgbClr val="52C41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8.5</c:v>
                </c:pt>
                <c:pt idx="1">
                  <c:v>9.2</c:v>
                </c:pt>
                <c:pt idx="2">
                  <c:v>10.1</c:v>
                </c:pt>
                <c:pt idx="3">
                  <c:v>10.8</c:v>
                </c:pt>
                <c:pt idx="4">
                  <c:v>11.5</c:v>
                </c:pt>
                <c:pt idx="5">
                  <c:v>12.2</c:v>
                </c:pt>
                <c:pt idx="6">
                  <c:v>12.8</c:v>
                </c:pt>
                <c:pt idx="7">
                  <c:v>13.5</c:v>
                </c:pt>
                <c:pt idx="8">
                  <c:v>14.2</c:v>
                </c:pt>
                <c:pt idx="9">
                  <c:v>14.8</c:v>
                </c:pt>
                <c:pt idx="10">
                  <c:v>15.5</c:v>
                </c:pt>
                <c:pt idx="11">
                  <c:v>16.2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Customer Satisfaction (Post-CLMS)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2C41A"/>
              </a:solidFill>
            </c:spPr>
          </c:dPt>
          <c:dPt>
            <c:idx val="1"/>
            <c:spPr>
              <a:solidFill>
                <a:srgbClr val="1677FF"/>
              </a:solidFill>
            </c:spPr>
          </c:dPt>
          <c:dPt>
            <c:idx val="2"/>
            <c:spPr>
              <a:solidFill>
                <a:srgbClr val="F5A623"/>
              </a:solidFill>
            </c:spPr>
          </c:dPt>
          <c:dPt>
            <c:idx val="3"/>
            <c:spPr>
              <a:solidFill>
                <a:srgbClr val="E94560"/>
              </a:solidFill>
            </c:spPr>
          </c:dPt>
          <c:cat>
            <c:strRef>
              <c:f>Sheet1!$A$2:$A$5</c:f>
              <c:strCache>
                <c:ptCount val="4"/>
                <c:pt idx="0">
                  <c:v>Very Satisfied</c:v>
                </c:pt>
                <c:pt idx="1">
                  <c:v>Satisfied</c:v>
                </c:pt>
                <c:pt idx="2">
                  <c:v>Neutral</c:v>
                </c:pt>
                <c:pt idx="3">
                  <c:v>Dissatisfied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28</c:v>
                </c:pt>
                <c:pt idx="2">
                  <c:v>10</c:v>
                </c:pt>
                <c:pt idx="3">
                  <c:v>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NCR Reduction Over Time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NCR Count</c:v>
                </c:pt>
              </c:strCache>
            </c:strRef>
          </c:tx>
          <c:spPr>
            <a:solidFill>
              <a:srgbClr val="E94560"/>
            </a:solidFill>
          </c:spPr>
          <c:cat>
            <c:strRef>
              <c:f>Sheet1!$A$2:$A$7</c:f>
              <c:strCache>
                <c:ptCount val="6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Q1+1</c:v>
                </c:pt>
                <c:pt idx="5">
                  <c:v>Q2+1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</c:v>
                </c:pt>
                <c:pt idx="1">
                  <c:v>18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A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0" y="91439"/>
            <a:ext cx="2011680" cy="201168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0" y="3200400"/>
            <a:ext cx="2743200" cy="274320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0" y="5029200"/>
            <a:ext cx="914400" cy="91440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914400"/>
            <a:ext cx="1005840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960120"/>
            <a:ext cx="100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9144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4560"/>
                </a:solidFill>
              </a:rPr>
              <a:t>CORTEX AI TECHNOLOGIES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371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CortexCLMS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697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0C4DE"/>
                </a:solidFill>
              </a:rPr>
              <a:t>Calibration Laboratory
Management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3840480"/>
            <a:ext cx="5029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40233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0"/>
                </a:solidFill>
              </a:rPr>
              <a:t>Transform Your Lab Operations with AI-Powered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88AA"/>
                </a:solidFill>
              </a:rPr>
              <a:t>Product Presentation  · 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2743200"/>
            <a:ext cx="2834640" cy="5486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79408" y="2761488"/>
            <a:ext cx="2798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ISO 17025  |  NABL Ready  |  GST Compliant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What we'll cover in this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6187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About Cortex AI Technologies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Our mission, vision &amp; technology backbone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18872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26187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The Lab Management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69164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Pain points calibration labs face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2316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42316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49631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49631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Introducing CortexCLMS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926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Product overview &amp; key modules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42316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242316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49631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49631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Key Benefits &amp; 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2608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How CLMS transforms your operations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5760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65760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7307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7307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Performance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Charts &amp; data from real lab deployments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65760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7307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73075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Pricing Plans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16052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Flexible plans for every lab size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9204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489204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79" y="49651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96519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Next Steps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3949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How to get started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09728" cy="58064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About Cortex AI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Powering the next generation of laboratory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🎯  Our 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 digitize and automate calibration laboratory operations across India and beyond — delivering AI-powered tools that save time, ensure compliance, and grow revenue.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34440"/>
            <a:ext cx="6035040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325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🚀  Our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3736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 become the #1 LIMS/CLMS platform for accredited calibration labs in South Asia by 2028 — with a suite of intelligent, cloud-native products that set the industry benchmark.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AI-First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Machine learning at every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58568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58568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0008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☁️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Cloud 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0008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99.9% uptime SLA, auto-scaling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42816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42816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5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5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Enterprise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ISO 27001, SOC2 aligned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7064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7064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3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3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Mobile 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3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Works on any device, anywhere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Multi-Tenant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Unlimited labs on one platform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95560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95560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87000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Integrations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ERP, NABL portal, Email &amp;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166360"/>
            <a:ext cx="1161288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150+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Labs Onboarded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50,000+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7872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Certificates Issued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98%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Customer Retention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3456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4.9★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3456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Avg. User Rating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Problem: What Labs Struggle With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Pain points that cost labs time, money, and accreditation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2984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Paper-Based Chaos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Job cards, datasheets, and certificates managed on paper or Excel — prone to errors, loss, and version conflicts.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8872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2984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⏱️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Slow Turnaround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66420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Manual status tracking means no one knows where a job is. Customers chase the lab for updates via phone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51460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51460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624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NABL Audit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9900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Missing environmental logs, expired reference standards, unsigned documents — discovered only during audits.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51460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51460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624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Revenue Leakage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900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Jobs completed but not invoiced. Quotations never followed up. No visibility into outstanding dues.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4048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Zero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31596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No data on engineer productivity, repeat complaints, or revenue trends. Decisions are based on guesswork.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84048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84048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8231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No Customer 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31596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Customers cannot self-check job status or download certificates — leading to support overload for lab staff.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66359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5166359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52760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257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Repeat Manual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4184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Certificate data re-entered 3 times: datasheet → certificate → register → invoice. Every step is error-prone.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5166359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5166359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1" y="52760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257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No Role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64184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Everyone sees everything. Junior staff can accidentally modify approved certificates or closed records.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CortexCLMS — Complete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27 integrated modules covering every lab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🗂️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Jobs</a:t>
            </a:r>
          </a:p>
        </p:txBody>
      </p:sp>
      <p:sp>
        <p:nvSpPr>
          <p:cNvPr id="8" name="Rectangle 7"/>
          <p:cNvSpPr/>
          <p:nvPr/>
        </p:nvSpPr>
        <p:spPr>
          <a:xfrm>
            <a:off x="1956816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2536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2536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Certificates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9312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Instruments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21808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Ref. Standards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4304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50024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Cal. Masters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Environmental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69296" y="1188720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5016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5016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Leads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56816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02536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02536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CRM Activities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39312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5032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Quotations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21808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Invoices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4304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0024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50024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Purchase Orders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32520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Delivery Challans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69296" y="2304288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5016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15016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NCR/CAPA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Complaints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56816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02536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02536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Lab Docs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39312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85032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85032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Internal Audit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21808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67528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7528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Tasks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4304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50024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0024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Engineers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0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20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20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69296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15016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15016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Inventory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Reports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56816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02536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02536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39312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85032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5032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Settings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321808" y="4535424"/>
            <a:ext cx="1609344" cy="1005840"/>
          </a:xfrm>
          <a:prstGeom prst="rect">
            <a:avLst/>
          </a:prstGeom>
          <a:solidFill>
            <a:srgbClr val="7A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67528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67528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 Portal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F3460"/>
                </a:solidFill>
              </a:rPr>
              <a:t>■ Calibration Ops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5176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5C2A"/>
                </a:solidFill>
              </a:rPr>
              <a:t>■ CRM &amp; Billing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210E"/>
                </a:solidFill>
              </a:rPr>
              <a:t>■ Quality &amp; Compliance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1F6B"/>
                </a:solidFill>
              </a:rPr>
              <a:t>■ Administration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8408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4A00"/>
                </a:solidFill>
              </a:rPr>
              <a:t>■ Customer Portal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Benefits of CortexCLMS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Measurable impact from day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41732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60% Faster Certificate Issuance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Automated datasheet-to-certificate pipeline eliminates manual re-entry. What took 2 days now takes 2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7315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417320"/>
            <a:ext cx="640080" cy="640080"/>
          </a:xfrm>
          <a:prstGeom prst="ellipse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7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100% NABL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Built-in workflows enforce ISO/IEC 17025 requirements. Environmental logs, reference standard tracking, and document control are automatic.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73152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0" y="1417320"/>
            <a:ext cx="640080" cy="640080"/>
          </a:xfrm>
          <a:prstGeom prst="ellipse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Zero Revenue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Every completed job auto-generates a billing prompt. Pending invoices dashboard prevents forgotten billings. Average recovery: ₹2L/month.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794760"/>
            <a:ext cx="3749039" cy="73152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7200" y="4023360"/>
            <a:ext cx="640080" cy="640080"/>
          </a:xfrm>
          <a:prstGeom prst="ellips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Customer Self-Service Portal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Customers check job status and download certificates 24/7. Lab support calls reduced by 70%. Customer satisfaction scores up 40%.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94760"/>
            <a:ext cx="3749039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34840" y="402336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3127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79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Real-Time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Engineer productivity, revenue trends, NCR patterns — all in one dashboard. Data-driven decisions replace guesswork.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94760"/>
            <a:ext cx="3749039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12480" y="402336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0768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Role-Based Security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Fine-grained access control ensures junior staff cannot modify approved records. Full audit trail on every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Before vs After CortexCLMS — The ROI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Average figures from 50+ deployed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828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179576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179576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Without CLMS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14300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1179576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With CortexCLMS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1143000"/>
            <a:ext cx="21031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65792" y="1179576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6184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Certificate Issuance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52704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6184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3–5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52704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61848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4–8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40" y="152704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61848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85% faster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2140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Manual Data Entry (hrs/day)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212140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6–8 hours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12140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2128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&lt; 1 hour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212140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2212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87% reduction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71576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8072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Support Calls / Week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71576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28072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40–60 calls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271576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28072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8–12 calls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271576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0" y="280720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75% fewer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1012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4015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Revenue per Month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331012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0" y="34015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331012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4015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+28%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331012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4080" y="340156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Revenue growth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04487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NABL Audit Prep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3904487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399592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2 weeks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0" y="3904487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399592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2 days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904487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995927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80% faster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49884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45902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Certificate Error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66160" y="449884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0" y="45902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12–15%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0" y="449884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9440" y="459028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&lt; 0.5%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92640" y="449884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59028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96% fewer errors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09320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51846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Customer Satisfaction Score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66160" y="509320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0" y="51846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3.1 /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0" y="509320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9440" y="51846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4.7 / 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92640" y="509320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0" y="51846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+52% NPS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568756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577900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Pending Invoice Recovery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66160" y="568756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0" y="577900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₹0/month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568756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577900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₹2L+/month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92640" y="568756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84080" y="5779007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New revenue stream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Analytics — Real Lab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Charts from aggregated deployments (anonymised)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88720"/>
          <a:ext cx="5486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43600" y="1188720"/>
          <a:ext cx="594360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74320" y="3977639"/>
          <a:ext cx="365760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0" y="3977639"/>
          <a:ext cx="3931920" cy="26517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406908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41148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4.9★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Avg User 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489204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9377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0566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Retention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571500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57607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58795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Call Reduction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CortexCLMS Pricing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Transparent, all-inclusive pricing — no hidden charges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2788920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25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₹99,999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834640"/>
            <a:ext cx="2788920" cy="6400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₹15,000/month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All Core 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5 Engineer Accounts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Email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1 Lab 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Basic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Customer Portal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3552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18688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1143000"/>
            <a:ext cx="2788920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18688" y="1143000"/>
            <a:ext cx="278892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1161288"/>
            <a:ext cx="2788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3460"/>
                </a:solidFill>
              </a:rPr>
              <a:t>⭐ 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14630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8688" y="18470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Professional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18688" y="21945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50 Users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10128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₹1,49,999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2834640"/>
            <a:ext cx="2788920" cy="6400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18688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₹22,000/month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8688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Starter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5848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Unlimited Certificates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Priority Support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5848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Multi-location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Advanced Analytics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55848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API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Certificate Template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8776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08776" y="1143000"/>
            <a:ext cx="2788920" cy="11887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08776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8776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100 Users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08776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0216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216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₹2,99,999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2834640"/>
            <a:ext cx="2788920" cy="64008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08776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₹35,000/month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08776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Professional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Dedicated Account Manager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SLA Guarantee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Integrations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On-premise Option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Training Workshops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45936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NABL Audit Support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98864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98864" y="1143000"/>
            <a:ext cx="2788920" cy="118872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98864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98864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Enterprise+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98864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Unlimited Users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98864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0304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90304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Custom Quote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98864" y="2834640"/>
            <a:ext cx="2788920" cy="64008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98864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Custom Quote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98864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36024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Enterprise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36024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White-label Option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36024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Source Code License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36024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AI Features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36024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Multi-lab Group Mgmt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36024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24×7 Dedicated Support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36024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Quarterly Business Review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600" y="6492240"/>
            <a:ext cx="1170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* All plans include: Free Setup, Data Migration Assistance, User Training, 30-day free trial period, and 1-year bug-fix warranty.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Plan Comparison — 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See exactly what's included in each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384048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61288"/>
            <a:ext cx="3703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192024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59" y="1161288"/>
            <a:ext cx="1783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219456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61288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Professional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58200" y="1143000"/>
            <a:ext cx="2011680" cy="457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161288"/>
            <a:ext cx="1874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1143000"/>
            <a:ext cx="2011680" cy="45720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60" y="1161288"/>
            <a:ext cx="1874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Enterprise+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160020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6276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No. of 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60020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16276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60020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6276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6002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6276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16002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16276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Unlimited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1874519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190195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Calibration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874519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190195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874519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90195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187451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19019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61320" y="187451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19019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214884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21762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Certificate Generation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214884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59" y="21762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14884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1762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1488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49640" y="21762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61320" y="21488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52760" y="21762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242316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245059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Customer Portal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242316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51959" y="245059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242316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245059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58200" y="24231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9640" y="245059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61320" y="24231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52760" y="245059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269748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272491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NABL Compliant Workflows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269748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59" y="272491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69748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272491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58200" y="26974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49640" y="27249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561320" y="26974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" y="297180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29992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CRM &amp; Leads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60520" y="297180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51959" y="29992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297180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9992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58200" y="29718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49640" y="29992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561320" y="29718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52760" y="29992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28600" y="324612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327355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Invoicing &amp; GST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60520" y="324612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51959" y="327355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324612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327355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58200" y="32461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49640" y="32735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61320" y="32461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52760" y="32735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52044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35478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NCR/CAPA &amp; Audits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60520" y="352044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51959" y="35478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352044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63640" y="35478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58200" y="352044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549640" y="35478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352044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652760" y="35478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8600" y="379476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382219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Advanced Analytics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60520" y="379476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51959" y="382219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72200" y="379476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382219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58200" y="379476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549640" y="38221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1320" y="379476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652760" y="38221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28600" y="4069079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20040" y="409651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API Access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60520" y="4069079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51959" y="409651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72200" y="4069079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63640" y="409651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458200" y="406907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49640" y="409651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561320" y="406907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652760" y="409651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28600" y="434340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0040" y="43708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 Certificate Template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434340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251959" y="43708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72200" y="434340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63640" y="43708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58200" y="43434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49640" y="43708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561320" y="43434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652760" y="43708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8600" y="461772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20040" y="464515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Multi-location Support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160520" y="461772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51959" y="464515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72200" y="461772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263640" y="46451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58200" y="461772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549640" y="46451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561320" y="461772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652760" y="46451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28600" y="489204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0040" y="49194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Dedicated Account Manager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160520" y="489204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251959" y="49194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172200" y="489204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63640" y="49194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58200" y="48920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49640" y="49194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561320" y="48920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652760" y="49194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28600" y="516636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40" y="519379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SLA Guarantee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160520" y="516636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251959" y="519379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2200" y="516636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519379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458200" y="51663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549640" y="51937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561320" y="51663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652760" y="51937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28600" y="544068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40" y="546811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On-premise Option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160520" y="544068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251959" y="546811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2200" y="544068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63640" y="546811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458200" y="54406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49640" y="54681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561320" y="54406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652760" y="54681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28600" y="571500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0040" y="57424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White-label / Source Code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160520" y="571500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251959" y="57424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172200" y="571500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263640" y="57424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458200" y="57150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549640" y="57424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0561320" y="57150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652760" y="57424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28600" y="598932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20040" y="601675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 AI Features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60520" y="598932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251959" y="601675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172200" y="598932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263640" y="60167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458200" y="59893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549640" y="60167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561320" y="59893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652760" y="60167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Customer Portal — Self-Service 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Give customers 24/7 access to their calibration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My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Track all calibration jobs in real-time. See status from RECEIVED to DELIVERED — no phone calls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Certificates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Download calibration certificates as PDF at any time. QR-code verified for authenticity.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My Instruments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View all registered instruments with calibration due dates and history.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Raise Complaint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Submit complaints directly from the portal. Auto-appears in the lab's Quality module.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Give 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Rate lab performance on 4 dimensions. Quality managers see it instantly.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Setting Up Portal Access — 4 Simple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1️⃣ Add customer in the Customers module with their 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2️⃣ Click 🔒 Set Portal Password on the customer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59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3️⃣ Share email, password &amp; lab accreditation code with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811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4️⃣ Customer logs in at /portal — instant access!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Ready to Transform Your Lab?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</a:rPr>
              <a:t>Join 150+ calibration labs already running on CortexCLMS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Book a Free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Schedule a 45-minute personalized demo. See your lab's workflow in the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30-Day Free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Get full access to all features. Your data, your lab — zero commitment.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348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Onboarding &amp; Go-Live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Our team handles data migration, training, and go-live support in 2 weeks.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4128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956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Grow &amp;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Add more users, modules, and locations as your lab grows — plans scale with you.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166360"/>
            <a:ext cx="11612880" cy="14173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54406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📧 sales@cortexai.in     |     📞 +91 98765 43210     |     🌐 www.cortexai.in/clms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59893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CCCC"/>
                </a:solidFill>
              </a:rPr>
              <a:t>Cortex AI Technologies Pvt. Ltd.  ·  Making Calibration Labs Smarter, Faster, Compliant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